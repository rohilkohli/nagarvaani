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NagarVaani turns what citizens say into what governments prioritise. Point to the QR code: the live demo needs no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language of the track brief. Avoid quoting statistics we cannot source. The point: intake is fragmented and priority setting is not evidence-based.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left to right. Stress that every step already works in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bands. Top: getting a complaint in and understood. Bottom: turning many complaints into priorities. Gemini appears twice: once per complaint, once for recommendations over an aggregated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25 percent criterion. Emphasise meaningful use of Gemini and the honesty of the fallback: results are tagged gemini or rule-based, never silently faked.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coverage. Judges reward honesty about data limits more than inflated claims. Census figures are pending human verification per data/VERIFICATION.md.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of the Priority Interventions view on synthetic demo data (rule-based engine, no Gemini key needed for this view). Be upfront: each cluster has one complaint, so raw rank is a tie-break. The point is the mechanism: per-100k need, deprivation and aspirational flags, with Census 2011 population and NFHS-5 where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screenshots from the live demo (synthetic data). Left: citizen portal on a phone. Right: dashboard heatmap and the department SLA centre where complaints are auto-routed to nodal departments.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BRICS comparison is an extension to show the same engine works with other countries by changing data, not code. Its records are marked synthetic. Do not quote population or beneficiary figures from that view unless you can source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is deliberately single-instance because its sandbox is in memory. Live mode uses Firestore. WhatsApp is tested with signed simulated payloads, not yet with a live Meta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measured impact. Frame impact as the mechanism: need-weighted evidence. The pilot path matches the FAQ: winning solutions are evaluated for pilot deployment within relevant ministries.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tagline and the QR code. Add team member names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14"/>
        </a:solidFill>
      </p:bgPr>
    </p:bg>
    <p:spTree>
      <p:nvGrpSpPr>
        <p:cNvPr id="1" name=""/>
        <p:cNvGrpSpPr/>
        <p:nvPr/>
      </p:nvGrpSpPr>
      <p:grpSpPr>
        <a:xfrm>
          <a:off x="0" y="0"/>
          <a:ext cx="0" cy="0"/>
          <a:chOff x="0" y="0"/>
          <a:chExt cx="0" cy="0"/>
        </a:xfrm>
      </p:grpSpPr>
      <p:pic>
        <p:nvPicPr>
          <p:cNvPr id="2" name="Image 0" descr="/tmp/deck/logo-dark-tagline.png">    </p:cNvPr>
          <p:cNvPicPr>
            <a:picLocks noChangeAspect="1"/>
          </p:cNvPicPr>
          <p:nvPr/>
        </p:nvPicPr>
        <p:blipFill>
          <a:blip r:embed="rId1"/>
          <a:stretch>
            <a:fillRect/>
          </a:stretch>
        </p:blipFill>
        <p:spPr>
          <a:xfrm>
            <a:off x="822960" y="1005840"/>
            <a:ext cx="6583680" cy="1984248"/>
          </a:xfrm>
          <a:prstGeom prst="rect">
            <a:avLst/>
          </a:prstGeom>
        </p:spPr>
      </p:pic>
      <p:sp>
        <p:nvSpPr>
          <p:cNvPr id="3" name="Text 0"/>
          <p:cNvSpPr txBox="1"/>
          <p:nvPr/>
        </p:nvSpPr>
        <p:spPr>
          <a:xfrm>
            <a:off x="822960" y="3291840"/>
            <a:ext cx="6766560" cy="91440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Multilingual AI that turns citizen voices into infrastructure priorities</a:t>
            </a:r>
            <a:endParaRPr lang="en-US" sz="2400" dirty="0"/>
          </a:p>
        </p:txBody>
      </p:sp>
      <p:sp>
        <p:nvSpPr>
          <p:cNvPr id="4" name="Text 1"/>
          <p:cNvSpPr txBox="1"/>
          <p:nvPr/>
        </p:nvSpPr>
        <p:spPr>
          <a:xfrm>
            <a:off x="822960" y="4434840"/>
            <a:ext cx="6949440" cy="36576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Track 01: AI for Digital Public Infrastructure &amp; Governance</a:t>
            </a:r>
            <a:endParaRPr lang="en-US" sz="1600" dirty="0"/>
          </a:p>
        </p:txBody>
      </p:sp>
      <p:sp>
        <p:nvSpPr>
          <p:cNvPr id="5" name="Text 2"/>
          <p:cNvSpPr txBox="1"/>
          <p:nvPr/>
        </p:nvSpPr>
        <p:spPr>
          <a:xfrm>
            <a:off x="822960" y="4828032"/>
            <a:ext cx="7132320" cy="365760"/>
          </a:xfrm>
          <a:prstGeom prst="rect">
            <a:avLst/>
          </a:prstGeom>
          <a:noFill/>
          <a:ln/>
        </p:spPr>
        <p:txBody>
          <a:bodyPr wrap="square" lIns="0" tIns="0" rIns="0" bIns="0" rtlCol="0" anchor="ctr"/>
          <a:lstStyle/>
          <a:p>
            <a:pPr indent="0" marL="0">
              <a:buNone/>
            </a:pPr>
            <a:r>
              <a:rPr lang="en-US" sz="1400" dirty="0">
                <a:solidFill>
                  <a:srgbClr val="A5B4FC"/>
                </a:solidFill>
                <a:latin typeface="Calibri" pitchFamily="34" charset="0"/>
                <a:ea typeface="Calibri" pitchFamily="34" charset="-122"/>
                <a:cs typeface="Calibri" pitchFamily="34" charset="-120"/>
              </a:rPr>
              <a:t>Build with AI: Code for Communities, Second Edition (Google Cloud x Hack2skill)</a:t>
            </a:r>
            <a:endParaRPr lang="en-US" sz="1400" dirty="0"/>
          </a:p>
        </p:txBody>
      </p:sp>
      <p:sp>
        <p:nvSpPr>
          <p:cNvPr id="6" name="Shape 3"/>
          <p:cNvSpPr/>
          <p:nvPr/>
        </p:nvSpPr>
        <p:spPr>
          <a:xfrm>
            <a:off x="8503920" y="1463040"/>
            <a:ext cx="3017520" cy="3566160"/>
          </a:xfrm>
          <a:prstGeom prst="roundRect">
            <a:avLst>
              <a:gd name="adj" fmla="val 3636"/>
            </a:avLst>
          </a:prstGeom>
          <a:solidFill>
            <a:srgbClr val="14142A"/>
          </a:solidFill>
          <a:ln w="9525">
            <a:solidFill>
              <a:srgbClr val="2A2A4A"/>
            </a:solidFill>
            <a:prstDash val="solid"/>
          </a:ln>
          <a:effectLst>
            <a:outerShdw sx="100000" sy="100000" kx="0" ky="0" algn="bl" rotWithShape="0" blurRad="101600" dist="25400" dir="5400000">
              <a:srgbClr val="000000">
                <a:alpha val="8000"/>
              </a:srgbClr>
            </a:outerShdw>
          </a:effectLst>
        </p:spPr>
      </p:sp>
      <p:pic>
        <p:nvPicPr>
          <p:cNvPr id="7" name="Image 1" descr="/tmp/deck/qr.png">    </p:cNvPr>
          <p:cNvPicPr>
            <a:picLocks noChangeAspect="1"/>
          </p:cNvPicPr>
          <p:nvPr/>
        </p:nvPicPr>
        <p:blipFill>
          <a:blip r:embed="rId2"/>
          <a:stretch>
            <a:fillRect/>
          </a:stretch>
        </p:blipFill>
        <p:spPr>
          <a:xfrm>
            <a:off x="8823960" y="1691640"/>
            <a:ext cx="2377440" cy="2377440"/>
          </a:xfrm>
          <a:prstGeom prst="rect">
            <a:avLst/>
          </a:prstGeom>
        </p:spPr>
      </p:pic>
      <p:sp>
        <p:nvSpPr>
          <p:cNvPr id="8" name="Text 4"/>
          <p:cNvSpPr txBox="1"/>
          <p:nvPr/>
        </p:nvSpPr>
        <p:spPr>
          <a:xfrm>
            <a:off x="8503920" y="4160520"/>
            <a:ext cx="301752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Try the live demo</a:t>
            </a:r>
            <a:endParaRPr lang="en-US" sz="1400" dirty="0"/>
          </a:p>
        </p:txBody>
      </p:sp>
      <p:sp>
        <p:nvSpPr>
          <p:cNvPr id="9" name="Text 5"/>
          <p:cNvSpPr txBox="1"/>
          <p:nvPr/>
        </p:nvSpPr>
        <p:spPr>
          <a:xfrm>
            <a:off x="8503920" y="4480560"/>
            <a:ext cx="3017520" cy="457200"/>
          </a:xfrm>
          <a:prstGeom prst="rect">
            <a:avLst/>
          </a:prstGeom>
          <a:noFill/>
          <a:ln/>
        </p:spPr>
        <p:txBody>
          <a:bodyPr wrap="square" lIns="0" tIns="0" rIns="0" bIns="0" rtlCol="0" anchor="ctr"/>
          <a:lstStyle/>
          <a:p>
            <a:pPr algn="ctr" indent="0" marL="0">
              <a:buNone/>
            </a:pPr>
            <a:r>
              <a:rPr lang="en-US" sz="1000" dirty="0">
                <a:solidFill>
                  <a:srgbClr val="A5B4FC"/>
                </a:solidFill>
                <a:latin typeface="Calibri" pitchFamily="34" charset="0"/>
                <a:ea typeface="Calibri" pitchFamily="34" charset="-122"/>
                <a:cs typeface="Calibri" pitchFamily="34" charset="-120"/>
              </a:rPr>
              <a:t>nagarvaani-636001394004</a:t>
            </a:r>
            <a:endParaRPr lang="en-US" sz="1000" dirty="0"/>
          </a:p>
          <a:p>
            <a:pPr algn="ctr" indent="0" marL="0">
              <a:buNone/>
            </a:pPr>
            <a:r>
              <a:rPr lang="en-US" sz="1000" dirty="0">
                <a:solidFill>
                  <a:srgbClr val="A5B4FC"/>
                </a:solidFill>
                <a:latin typeface="Calibri" pitchFamily="34" charset="0"/>
                <a:ea typeface="Calibri" pitchFamily="34" charset="-122"/>
                <a:cs typeface="Calibri" pitchFamily="34" charset="-120"/>
              </a:rPr>
              <a:t>.asia-south1.run.app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0F172A"/>
                </a:solidFill>
                <a:latin typeface="Calibri" pitchFamily="34" charset="0"/>
                <a:ea typeface="Calibri" pitchFamily="34" charset="-122"/>
                <a:cs typeface="Calibri" pitchFamily="34" charset="-120"/>
              </a:rPr>
              <a:t>Citizen needs are heard, but not prioritised</a:t>
            </a:r>
            <a:endParaRPr lang="en-US" sz="3800" dirty="0"/>
          </a:p>
        </p:txBody>
      </p:sp>
      <p:sp>
        <p:nvSpPr>
          <p:cNvPr id="3" name="Text 1"/>
          <p:cNvSpPr txBox="1"/>
          <p:nvPr/>
        </p:nvSpPr>
        <p:spPr>
          <a:xfrm>
            <a:off x="640080" y="1463040"/>
            <a:ext cx="4480560" cy="2194560"/>
          </a:xfrm>
          <a:prstGeom prst="rect">
            <a:avLst/>
          </a:prstGeom>
          <a:noFill/>
          <a:ln/>
        </p:spPr>
        <p:txBody>
          <a:bodyPr wrap="square" lIns="0" tIns="0" rIns="0" bIns="0" rtlCol="0" anchor="t"/>
          <a:lstStyle/>
          <a:p>
            <a:pPr indent="0" marL="0">
              <a:buNone/>
            </a:pPr>
            <a:r>
              <a:rPr lang="en-US" sz="2000" dirty="0">
                <a:solidFill>
                  <a:srgbClr val="0F172A"/>
                </a:solidFill>
                <a:latin typeface="Calibri" pitchFamily="34" charset="0"/>
                <a:ea typeface="Calibri" pitchFamily="34" charset="-122"/>
                <a:cs typeface="Calibri" pitchFamily="34" charset="-120"/>
              </a:rPr>
              <a:t>The Track 01 brief: development requests live in fragmented systems, so public spending drifts away from need and infrastructure gaps go unaddressed.</a:t>
            </a:r>
            <a:endParaRPr lang="en-US" sz="2000" dirty="0"/>
          </a:p>
        </p:txBody>
      </p:sp>
      <p:sp>
        <p:nvSpPr>
          <p:cNvPr id="4" name="Text 2"/>
          <p:cNvSpPr txBox="1"/>
          <p:nvPr/>
        </p:nvSpPr>
        <p:spPr>
          <a:xfrm>
            <a:off x="640080" y="3840480"/>
            <a:ext cx="4480560" cy="1280160"/>
          </a:xfrm>
          <a:prstGeom prst="rect">
            <a:avLst/>
          </a:prstGeom>
          <a:noFill/>
          <a:ln/>
        </p:spPr>
        <p:txBody>
          <a:bodyPr wrap="square" lIns="0" tIns="0" rIns="0" bIns="0" rtlCol="0" anchor="t"/>
          <a:lstStyle/>
          <a:p>
            <a:pPr indent="0" marL="0">
              <a:buNone/>
            </a:pPr>
            <a:r>
              <a:rPr lang="en-US" sz="1600" dirty="0">
                <a:solidFill>
                  <a:srgbClr val="64748B"/>
                </a:solidFill>
                <a:latin typeface="Calibri" pitchFamily="34" charset="0"/>
                <a:ea typeface="Calibri" pitchFamily="34" charset="-122"/>
                <a:cs typeface="Calibri" pitchFamily="34" charset="-120"/>
              </a:rPr>
              <a:t>Citizens speak dozens of languages and reach out by voice and messaging apps, not forms.</a:t>
            </a:r>
            <a:endParaRPr lang="en-US" sz="1600" dirty="0"/>
          </a:p>
        </p:txBody>
      </p:sp>
      <p:sp>
        <p:nvSpPr>
          <p:cNvPr id="5" name="Shape 3"/>
          <p:cNvSpPr/>
          <p:nvPr/>
        </p:nvSpPr>
        <p:spPr>
          <a:xfrm>
            <a:off x="5852160" y="1554480"/>
            <a:ext cx="5669280" cy="13716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6080760" y="1920240"/>
            <a:ext cx="640080" cy="640080"/>
          </a:xfrm>
          <a:prstGeom prst="ellipse">
            <a:avLst/>
          </a:prstGeom>
          <a:solidFill>
            <a:srgbClr val="6366F1"/>
          </a:solidFill>
          <a:ln w="12700">
            <a:solidFill>
              <a:srgbClr val="6366F1"/>
            </a:solidFill>
            <a:prstDash val="solid"/>
          </a:ln>
        </p:spPr>
      </p:sp>
      <p:pic>
        <p:nvPicPr>
          <p:cNvPr id="7" name="Image 0" descr="preencoded.png">    </p:cNvPr>
          <p:cNvPicPr>
            <a:picLocks noChangeAspect="1"/>
          </p:cNvPicPr>
          <p:nvPr/>
        </p:nvPicPr>
        <p:blipFill>
          <a:blip r:embed="rId1"/>
          <a:stretch>
            <a:fillRect/>
          </a:stretch>
        </p:blipFill>
        <p:spPr>
          <a:xfrm>
            <a:off x="6240780" y="2080260"/>
            <a:ext cx="320040" cy="320040"/>
          </a:xfrm>
          <a:prstGeom prst="rect">
            <a:avLst/>
          </a:prstGeom>
        </p:spPr>
      </p:pic>
      <p:sp>
        <p:nvSpPr>
          <p:cNvPr id="8" name="Text 5"/>
          <p:cNvSpPr txBox="1"/>
          <p:nvPr/>
        </p:nvSpPr>
        <p:spPr>
          <a:xfrm>
            <a:off x="6903720" y="1737360"/>
            <a:ext cx="4480560"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Fragmented intake</a:t>
            </a:r>
            <a:endParaRPr lang="en-US" sz="1800" dirty="0"/>
          </a:p>
        </p:txBody>
      </p:sp>
      <p:sp>
        <p:nvSpPr>
          <p:cNvPr id="9" name="Text 6"/>
          <p:cNvSpPr txBox="1"/>
          <p:nvPr/>
        </p:nvSpPr>
        <p:spPr>
          <a:xfrm>
            <a:off x="6903720" y="2121408"/>
            <a:ext cx="4480560"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Complaints sit in separate portals, helplines and messages with no common structure.</a:t>
            </a:r>
            <a:endParaRPr lang="en-US" sz="1300" dirty="0"/>
          </a:p>
        </p:txBody>
      </p:sp>
      <p:sp>
        <p:nvSpPr>
          <p:cNvPr id="10" name="Shape 7"/>
          <p:cNvSpPr/>
          <p:nvPr/>
        </p:nvSpPr>
        <p:spPr>
          <a:xfrm>
            <a:off x="5852160" y="3154680"/>
            <a:ext cx="5669280" cy="13716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8"/>
          <p:cNvSpPr/>
          <p:nvPr/>
        </p:nvSpPr>
        <p:spPr>
          <a:xfrm>
            <a:off x="6080760" y="3520440"/>
            <a:ext cx="640080" cy="640080"/>
          </a:xfrm>
          <a:prstGeom prst="ellipse">
            <a:avLst/>
          </a:prstGeom>
          <a:solidFill>
            <a:srgbClr val="6366F1"/>
          </a:solidFill>
          <a:ln w="12700">
            <a:solidFill>
              <a:srgbClr val="6366F1"/>
            </a:solidFill>
            <a:prstDash val="solid"/>
          </a:ln>
        </p:spPr>
      </p:sp>
      <p:pic>
        <p:nvPicPr>
          <p:cNvPr id="12" name="Image 1" descr="preencoded.png">    </p:cNvPr>
          <p:cNvPicPr>
            <a:picLocks noChangeAspect="1"/>
          </p:cNvPicPr>
          <p:nvPr/>
        </p:nvPicPr>
        <p:blipFill>
          <a:blip r:embed="rId2"/>
          <a:stretch>
            <a:fillRect/>
          </a:stretch>
        </p:blipFill>
        <p:spPr>
          <a:xfrm>
            <a:off x="6240780" y="3680460"/>
            <a:ext cx="320040" cy="320040"/>
          </a:xfrm>
          <a:prstGeom prst="rect">
            <a:avLst/>
          </a:prstGeom>
        </p:spPr>
      </p:pic>
      <p:sp>
        <p:nvSpPr>
          <p:cNvPr id="13" name="Text 9"/>
          <p:cNvSpPr txBox="1"/>
          <p:nvPr/>
        </p:nvSpPr>
        <p:spPr>
          <a:xfrm>
            <a:off x="6903720" y="3337560"/>
            <a:ext cx="4480560"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Volume beats need</a:t>
            </a:r>
            <a:endParaRPr lang="en-US" sz="1800" dirty="0"/>
          </a:p>
        </p:txBody>
      </p:sp>
      <p:sp>
        <p:nvSpPr>
          <p:cNvPr id="14" name="Text 10"/>
          <p:cNvSpPr txBox="1"/>
          <p:nvPr/>
        </p:nvSpPr>
        <p:spPr>
          <a:xfrm>
            <a:off x="6903720" y="3721608"/>
            <a:ext cx="4480560"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Busy cities generate more reports, so quiet, under-served districts are easy to miss.</a:t>
            </a:r>
            <a:endParaRPr lang="en-US" sz="1300" dirty="0"/>
          </a:p>
        </p:txBody>
      </p:sp>
      <p:sp>
        <p:nvSpPr>
          <p:cNvPr id="15" name="Shape 11"/>
          <p:cNvSpPr/>
          <p:nvPr/>
        </p:nvSpPr>
        <p:spPr>
          <a:xfrm>
            <a:off x="5852160" y="4754880"/>
            <a:ext cx="5669280" cy="13716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6" name="Shape 12"/>
          <p:cNvSpPr/>
          <p:nvPr/>
        </p:nvSpPr>
        <p:spPr>
          <a:xfrm>
            <a:off x="6080760" y="5120640"/>
            <a:ext cx="640080" cy="640080"/>
          </a:xfrm>
          <a:prstGeom prst="ellipse">
            <a:avLst/>
          </a:prstGeom>
          <a:solidFill>
            <a:srgbClr val="6366F1"/>
          </a:solidFill>
          <a:ln w="12700">
            <a:solidFill>
              <a:srgbClr val="6366F1"/>
            </a:solidFill>
            <a:prstDash val="solid"/>
          </a:ln>
        </p:spPr>
      </p:sp>
      <p:pic>
        <p:nvPicPr>
          <p:cNvPr id="17" name="Image 2" descr="preencoded.png">    </p:cNvPr>
          <p:cNvPicPr>
            <a:picLocks noChangeAspect="1"/>
          </p:cNvPicPr>
          <p:nvPr/>
        </p:nvPicPr>
        <p:blipFill>
          <a:blip r:embed="rId3"/>
          <a:stretch>
            <a:fillRect/>
          </a:stretch>
        </p:blipFill>
        <p:spPr>
          <a:xfrm>
            <a:off x="6240780" y="5280660"/>
            <a:ext cx="320040" cy="320040"/>
          </a:xfrm>
          <a:prstGeom prst="rect">
            <a:avLst/>
          </a:prstGeom>
        </p:spPr>
      </p:pic>
      <p:sp>
        <p:nvSpPr>
          <p:cNvPr id="18" name="Text 13"/>
          <p:cNvSpPr txBox="1"/>
          <p:nvPr/>
        </p:nvSpPr>
        <p:spPr>
          <a:xfrm>
            <a:off x="6903720" y="4937760"/>
            <a:ext cx="4480560"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Language barrier</a:t>
            </a:r>
            <a:endParaRPr lang="en-US" sz="1800" dirty="0"/>
          </a:p>
        </p:txBody>
      </p:sp>
      <p:sp>
        <p:nvSpPr>
          <p:cNvPr id="19" name="Text 14"/>
          <p:cNvSpPr txBox="1"/>
          <p:nvPr/>
        </p:nvSpPr>
        <p:spPr>
          <a:xfrm>
            <a:off x="6903720" y="5321808"/>
            <a:ext cx="4480560"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Forms and IVR menus cover only a few languages of a linguistically diverse country.</a:t>
            </a:r>
            <a:endParaRPr lang="en-US" sz="1300" dirty="0"/>
          </a:p>
        </p:txBody>
      </p:sp>
      <p:pic>
        <p:nvPicPr>
          <p:cNvPr id="20" name="Image 3" descr="/tmp/deck/mark.png">    </p:cNvPr>
          <p:cNvPicPr>
            <a:picLocks noChangeAspect="1"/>
          </p:cNvPicPr>
          <p:nvPr/>
        </p:nvPicPr>
        <p:blipFill>
          <a:blip r:embed="rId4"/>
          <a:stretch>
            <a:fillRect/>
          </a:stretch>
        </p:blipFill>
        <p:spPr>
          <a:xfrm>
            <a:off x="640080" y="6355080"/>
            <a:ext cx="237744" cy="246888"/>
          </a:xfrm>
          <a:prstGeom prst="rect">
            <a:avLst/>
          </a:prstGeom>
        </p:spPr>
      </p:pic>
      <p:sp>
        <p:nvSpPr>
          <p:cNvPr id="21" name="Text 15"/>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NagarVaani</a:t>
            </a:r>
            <a:endParaRPr lang="en-US" sz="1100" dirty="0"/>
          </a:p>
        </p:txBody>
      </p:sp>
      <p:sp>
        <p:nvSpPr>
          <p:cNvPr id="22" name="Text 16"/>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0F172A"/>
                </a:solidFill>
                <a:latin typeface="Calibri" pitchFamily="34" charset="0"/>
                <a:ea typeface="Calibri" pitchFamily="34" charset="-122"/>
                <a:cs typeface="Calibri" pitchFamily="34" charset="-120"/>
              </a:rPr>
              <a:t>One platform, from a voice note to a ranked project</a:t>
            </a:r>
            <a:endParaRPr lang="en-US" sz="3800" dirty="0"/>
          </a:p>
        </p:txBody>
      </p:sp>
      <p:sp>
        <p:nvSpPr>
          <p:cNvPr id="3" name="Text 1"/>
          <p:cNvSpPr txBox="1"/>
          <p:nvPr/>
        </p:nvSpPr>
        <p:spPr>
          <a:xfrm>
            <a:off x="640080" y="1261872"/>
            <a:ext cx="10911535" cy="411480"/>
          </a:xfrm>
          <a:prstGeom prst="rect">
            <a:avLst/>
          </a:prstGeom>
          <a:noFill/>
          <a:ln/>
        </p:spPr>
        <p:txBody>
          <a:bodyPr wrap="square" lIns="0" tIns="0" rIns="0" bIns="0" rtlCol="0" anchor="t"/>
          <a:lstStyle/>
          <a:p>
            <a:pPr indent="0" marL="0">
              <a:buNone/>
            </a:pPr>
            <a:r>
              <a:rPr lang="en-US" sz="1600" dirty="0">
                <a:solidFill>
                  <a:srgbClr val="64748B"/>
                </a:solidFill>
                <a:latin typeface="Calibri" pitchFamily="34" charset="0"/>
                <a:ea typeface="Calibri" pitchFamily="34" charset="-122"/>
                <a:cs typeface="Calibri" pitchFamily="34" charset="-120"/>
              </a:rPr>
              <a:t>Collect, understand, prioritise, act</a:t>
            </a:r>
            <a:endParaRPr lang="en-US" sz="1600" dirty="0"/>
          </a:p>
        </p:txBody>
      </p:sp>
      <p:sp>
        <p:nvSpPr>
          <p:cNvPr id="4" name="Shape 2"/>
          <p:cNvSpPr/>
          <p:nvPr/>
        </p:nvSpPr>
        <p:spPr>
          <a:xfrm>
            <a:off x="640080" y="2103120"/>
            <a:ext cx="2514600" cy="3200400"/>
          </a:xfrm>
          <a:prstGeom prst="roundRect">
            <a:avLst>
              <a:gd name="adj" fmla="val 4364"/>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914400" y="2377440"/>
            <a:ext cx="777240" cy="777240"/>
          </a:xfrm>
          <a:prstGeom prst="ellipse">
            <a:avLst/>
          </a:prstGeom>
          <a:solidFill>
            <a:srgbClr val="6366F1"/>
          </a:solidFill>
          <a:ln w="12700">
            <a:solidFill>
              <a:srgbClr val="6366F1"/>
            </a:solidFill>
            <a:prstDash val="solid"/>
          </a:ln>
        </p:spPr>
      </p:sp>
      <p:pic>
        <p:nvPicPr>
          <p:cNvPr id="6" name="Image 0" descr="preencoded.png">    </p:cNvPr>
          <p:cNvPicPr>
            <a:picLocks noChangeAspect="1"/>
          </p:cNvPicPr>
          <p:nvPr/>
        </p:nvPicPr>
        <p:blipFill>
          <a:blip r:embed="rId1"/>
          <a:stretch>
            <a:fillRect/>
          </a:stretch>
        </p:blipFill>
        <p:spPr>
          <a:xfrm>
            <a:off x="1108710" y="2571750"/>
            <a:ext cx="388620" cy="388620"/>
          </a:xfrm>
          <a:prstGeom prst="rect">
            <a:avLst/>
          </a:prstGeom>
        </p:spPr>
      </p:pic>
      <p:sp>
        <p:nvSpPr>
          <p:cNvPr id="7" name="Text 4"/>
          <p:cNvSpPr txBox="1"/>
          <p:nvPr/>
        </p:nvSpPr>
        <p:spPr>
          <a:xfrm>
            <a:off x="914400" y="3337560"/>
            <a:ext cx="196596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1. Collect</a:t>
            </a:r>
            <a:endParaRPr lang="en-US" sz="2200" dirty="0"/>
          </a:p>
        </p:txBody>
      </p:sp>
      <p:sp>
        <p:nvSpPr>
          <p:cNvPr id="8" name="Text 5"/>
          <p:cNvSpPr txBox="1"/>
          <p:nvPr/>
        </p:nvSpPr>
        <p:spPr>
          <a:xfrm>
            <a:off x="914400" y="3840480"/>
            <a:ext cx="1965960" cy="1371600"/>
          </a:xfrm>
          <a:prstGeom prst="rect">
            <a:avLst/>
          </a:prstGeom>
          <a:noFill/>
          <a:ln/>
        </p:spPr>
        <p:txBody>
          <a:bodyPr wrap="square" lIns="0" tIns="0" rIns="0" bIns="0" rtlCol="0" anchor="t"/>
          <a:lstStyle/>
          <a:p>
            <a:pPr indent="0" marL="0">
              <a:buNone/>
            </a:pPr>
            <a:r>
              <a:rPr lang="en-US" sz="1550" dirty="0">
                <a:solidFill>
                  <a:srgbClr val="64748B"/>
                </a:solidFill>
                <a:latin typeface="Calibri" pitchFamily="34" charset="0"/>
                <a:ea typeface="Calibri" pitchFamily="34" charset="-122"/>
                <a:cs typeface="Calibri" pitchFamily="34" charset="-120"/>
              </a:rPr>
              <a:t>Web form, voice, photo and WhatsApp, in the citizen's own language.</a:t>
            </a:r>
            <a:endParaRPr lang="en-US" sz="1550" dirty="0"/>
          </a:p>
        </p:txBody>
      </p:sp>
      <p:sp>
        <p:nvSpPr>
          <p:cNvPr id="9" name="Shape 6"/>
          <p:cNvSpPr/>
          <p:nvPr/>
        </p:nvSpPr>
        <p:spPr>
          <a:xfrm>
            <a:off x="3429000" y="2103120"/>
            <a:ext cx="2514600" cy="3200400"/>
          </a:xfrm>
          <a:prstGeom prst="roundRect">
            <a:avLst>
              <a:gd name="adj" fmla="val 4364"/>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0" name="Shape 7"/>
          <p:cNvSpPr/>
          <p:nvPr/>
        </p:nvSpPr>
        <p:spPr>
          <a:xfrm>
            <a:off x="3703320" y="2377440"/>
            <a:ext cx="777240" cy="777240"/>
          </a:xfrm>
          <a:prstGeom prst="ellipse">
            <a:avLst/>
          </a:prstGeom>
          <a:solidFill>
            <a:srgbClr val="6366F1"/>
          </a:solidFill>
          <a:ln w="12700">
            <a:solidFill>
              <a:srgbClr val="6366F1"/>
            </a:solidFill>
            <a:prstDash val="solid"/>
          </a:ln>
        </p:spPr>
      </p:sp>
      <p:pic>
        <p:nvPicPr>
          <p:cNvPr id="11" name="Image 1" descr="preencoded.png">    </p:cNvPr>
          <p:cNvPicPr>
            <a:picLocks noChangeAspect="1"/>
          </p:cNvPicPr>
          <p:nvPr/>
        </p:nvPicPr>
        <p:blipFill>
          <a:blip r:embed="rId2"/>
          <a:stretch>
            <a:fillRect/>
          </a:stretch>
        </p:blipFill>
        <p:spPr>
          <a:xfrm>
            <a:off x="3897630" y="2571750"/>
            <a:ext cx="388620" cy="388620"/>
          </a:xfrm>
          <a:prstGeom prst="rect">
            <a:avLst/>
          </a:prstGeom>
        </p:spPr>
      </p:pic>
      <p:sp>
        <p:nvSpPr>
          <p:cNvPr id="12" name="Text 8"/>
          <p:cNvSpPr txBox="1"/>
          <p:nvPr/>
        </p:nvSpPr>
        <p:spPr>
          <a:xfrm>
            <a:off x="3703320" y="3337560"/>
            <a:ext cx="196596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2. Understand</a:t>
            </a:r>
            <a:endParaRPr lang="en-US" sz="2200" dirty="0"/>
          </a:p>
        </p:txBody>
      </p:sp>
      <p:sp>
        <p:nvSpPr>
          <p:cNvPr id="13" name="Text 9"/>
          <p:cNvSpPr txBox="1"/>
          <p:nvPr/>
        </p:nvSpPr>
        <p:spPr>
          <a:xfrm>
            <a:off x="3703320" y="3840480"/>
            <a:ext cx="1965960" cy="1371600"/>
          </a:xfrm>
          <a:prstGeom prst="rect">
            <a:avLst/>
          </a:prstGeom>
          <a:noFill/>
          <a:ln/>
        </p:spPr>
        <p:txBody>
          <a:bodyPr wrap="square" lIns="0" tIns="0" rIns="0" bIns="0" rtlCol="0" anchor="t"/>
          <a:lstStyle/>
          <a:p>
            <a:pPr indent="0" marL="0">
              <a:buNone/>
            </a:pPr>
            <a:r>
              <a:rPr lang="en-US" sz="1550" dirty="0">
                <a:solidFill>
                  <a:srgbClr val="64748B"/>
                </a:solidFill>
                <a:latin typeface="Calibri" pitchFamily="34" charset="0"/>
                <a:ea typeface="Calibri" pitchFamily="34" charset="-122"/>
                <a:cs typeface="Calibri" pitchFamily="34" charset="-120"/>
              </a:rPr>
              <a:t>Gemini transcribes, translates, classifies and scores urgency. Duplicates are grouped.</a:t>
            </a:r>
            <a:endParaRPr lang="en-US" sz="1550" dirty="0"/>
          </a:p>
        </p:txBody>
      </p:sp>
      <p:sp>
        <p:nvSpPr>
          <p:cNvPr id="14" name="Shape 10"/>
          <p:cNvSpPr/>
          <p:nvPr/>
        </p:nvSpPr>
        <p:spPr>
          <a:xfrm>
            <a:off x="6217920" y="2103120"/>
            <a:ext cx="2514600" cy="3200400"/>
          </a:xfrm>
          <a:prstGeom prst="roundRect">
            <a:avLst>
              <a:gd name="adj" fmla="val 4364"/>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5" name="Shape 11"/>
          <p:cNvSpPr/>
          <p:nvPr/>
        </p:nvSpPr>
        <p:spPr>
          <a:xfrm>
            <a:off x="6492240" y="2377440"/>
            <a:ext cx="777240" cy="777240"/>
          </a:xfrm>
          <a:prstGeom prst="ellipse">
            <a:avLst/>
          </a:prstGeom>
          <a:solidFill>
            <a:srgbClr val="6366F1"/>
          </a:solidFill>
          <a:ln w="12700">
            <a:solidFill>
              <a:srgbClr val="6366F1"/>
            </a:solidFill>
            <a:prstDash val="solid"/>
          </a:ln>
        </p:spPr>
      </p:sp>
      <p:pic>
        <p:nvPicPr>
          <p:cNvPr id="16" name="Image 2" descr="preencoded.png">    </p:cNvPr>
          <p:cNvPicPr>
            <a:picLocks noChangeAspect="1"/>
          </p:cNvPicPr>
          <p:nvPr/>
        </p:nvPicPr>
        <p:blipFill>
          <a:blip r:embed="rId3"/>
          <a:stretch>
            <a:fillRect/>
          </a:stretch>
        </p:blipFill>
        <p:spPr>
          <a:xfrm>
            <a:off x="6686550" y="2571750"/>
            <a:ext cx="388620" cy="388620"/>
          </a:xfrm>
          <a:prstGeom prst="rect">
            <a:avLst/>
          </a:prstGeom>
        </p:spPr>
      </p:pic>
      <p:sp>
        <p:nvSpPr>
          <p:cNvPr id="17" name="Text 12"/>
          <p:cNvSpPr txBox="1"/>
          <p:nvPr/>
        </p:nvSpPr>
        <p:spPr>
          <a:xfrm>
            <a:off x="6492240" y="3337560"/>
            <a:ext cx="196596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3. Prioritise</a:t>
            </a:r>
            <a:endParaRPr lang="en-US" sz="2200" dirty="0"/>
          </a:p>
        </p:txBody>
      </p:sp>
      <p:sp>
        <p:nvSpPr>
          <p:cNvPr id="18" name="Text 13"/>
          <p:cNvSpPr txBox="1"/>
          <p:nvPr/>
        </p:nvSpPr>
        <p:spPr>
          <a:xfrm>
            <a:off x="6492240" y="3840480"/>
            <a:ext cx="1965960" cy="1371600"/>
          </a:xfrm>
          <a:prstGeom prst="rect">
            <a:avLst/>
          </a:prstGeom>
          <a:noFill/>
          <a:ln/>
        </p:spPr>
        <p:txBody>
          <a:bodyPr wrap="square" lIns="0" tIns="0" rIns="0" bIns="0" rtlCol="0" anchor="t"/>
          <a:lstStyle/>
          <a:p>
            <a:pPr indent="0" marL="0">
              <a:buNone/>
            </a:pPr>
            <a:r>
              <a:rPr lang="en-US" sz="1550" dirty="0">
                <a:solidFill>
                  <a:srgbClr val="64748B"/>
                </a:solidFill>
                <a:latin typeface="Calibri" pitchFamily="34" charset="0"/>
                <a:ea typeface="Calibri" pitchFamily="34" charset="-122"/>
                <a:cs typeface="Calibri" pitchFamily="34" charset="-120"/>
              </a:rPr>
              <a:t>Complaints are joined with Census, NITI Aayog and NFHS-5 district data and ranked by need.</a:t>
            </a:r>
            <a:endParaRPr lang="en-US" sz="1550" dirty="0"/>
          </a:p>
        </p:txBody>
      </p:sp>
      <p:sp>
        <p:nvSpPr>
          <p:cNvPr id="19" name="Shape 14"/>
          <p:cNvSpPr/>
          <p:nvPr/>
        </p:nvSpPr>
        <p:spPr>
          <a:xfrm>
            <a:off x="9006840" y="2103120"/>
            <a:ext cx="2514600" cy="3200400"/>
          </a:xfrm>
          <a:prstGeom prst="roundRect">
            <a:avLst>
              <a:gd name="adj" fmla="val 4364"/>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5"/>
          <p:cNvSpPr/>
          <p:nvPr/>
        </p:nvSpPr>
        <p:spPr>
          <a:xfrm>
            <a:off x="9281160" y="2377440"/>
            <a:ext cx="777240" cy="777240"/>
          </a:xfrm>
          <a:prstGeom prst="ellipse">
            <a:avLst/>
          </a:prstGeom>
          <a:solidFill>
            <a:srgbClr val="F59E0B"/>
          </a:solidFill>
          <a:ln w="12700">
            <a:solidFill>
              <a:srgbClr val="F59E0B"/>
            </a:solidFill>
            <a:prstDash val="solid"/>
          </a:ln>
        </p:spPr>
      </p:sp>
      <p:pic>
        <p:nvPicPr>
          <p:cNvPr id="21" name="Image 3" descr="preencoded.png">    </p:cNvPr>
          <p:cNvPicPr>
            <a:picLocks noChangeAspect="1"/>
          </p:cNvPicPr>
          <p:nvPr/>
        </p:nvPicPr>
        <p:blipFill>
          <a:blip r:embed="rId4"/>
          <a:stretch>
            <a:fillRect/>
          </a:stretch>
        </p:blipFill>
        <p:spPr>
          <a:xfrm>
            <a:off x="9475470" y="2571750"/>
            <a:ext cx="388620" cy="388620"/>
          </a:xfrm>
          <a:prstGeom prst="rect">
            <a:avLst/>
          </a:prstGeom>
        </p:spPr>
      </p:pic>
      <p:sp>
        <p:nvSpPr>
          <p:cNvPr id="22" name="Text 16"/>
          <p:cNvSpPr txBox="1"/>
          <p:nvPr/>
        </p:nvSpPr>
        <p:spPr>
          <a:xfrm>
            <a:off x="9281160" y="3337560"/>
            <a:ext cx="196596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4. Act</a:t>
            </a:r>
            <a:endParaRPr lang="en-US" sz="2200" dirty="0"/>
          </a:p>
        </p:txBody>
      </p:sp>
      <p:sp>
        <p:nvSpPr>
          <p:cNvPr id="23" name="Text 17"/>
          <p:cNvSpPr txBox="1"/>
          <p:nvPr/>
        </p:nvSpPr>
        <p:spPr>
          <a:xfrm>
            <a:off x="9281160" y="3840480"/>
            <a:ext cx="1965960" cy="1371600"/>
          </a:xfrm>
          <a:prstGeom prst="rect">
            <a:avLst/>
          </a:prstGeom>
          <a:noFill/>
          <a:ln/>
        </p:spPr>
        <p:txBody>
          <a:bodyPr wrap="square" lIns="0" tIns="0" rIns="0" bIns="0" rtlCol="0" anchor="t"/>
          <a:lstStyle/>
          <a:p>
            <a:pPr indent="0" marL="0">
              <a:buNone/>
            </a:pPr>
            <a:r>
              <a:rPr lang="en-US" sz="1550" dirty="0">
                <a:solidFill>
                  <a:srgbClr val="64748B"/>
                </a:solidFill>
                <a:latin typeface="Calibri" pitchFamily="34" charset="0"/>
                <a:ea typeface="Calibri" pitchFamily="34" charset="-122"/>
                <a:cs typeface="Calibri" pitchFamily="34" charset="-120"/>
              </a:rPr>
              <a:t>Policymakers see hotspots and evidence-backed project recommendations.</a:t>
            </a:r>
            <a:endParaRPr lang="en-US" sz="1550" dirty="0"/>
          </a:p>
        </p:txBody>
      </p:sp>
      <p:pic>
        <p:nvPicPr>
          <p:cNvPr id="24" name="Image 4" descr="/tmp/deck/mark.png">    </p:cNvPr>
          <p:cNvPicPr>
            <a:picLocks noChangeAspect="1"/>
          </p:cNvPicPr>
          <p:nvPr/>
        </p:nvPicPr>
        <p:blipFill>
          <a:blip r:embed="rId5"/>
          <a:stretch>
            <a:fillRect/>
          </a:stretch>
        </p:blipFill>
        <p:spPr>
          <a:xfrm>
            <a:off x="640080" y="6355080"/>
            <a:ext cx="237744" cy="246888"/>
          </a:xfrm>
          <a:prstGeom prst="rect">
            <a:avLst/>
          </a:prstGeom>
        </p:spPr>
      </p:pic>
      <p:sp>
        <p:nvSpPr>
          <p:cNvPr id="25" name="Text 18"/>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NagarVaani</a:t>
            </a:r>
            <a:endParaRPr lang="en-US" sz="1100" dirty="0"/>
          </a:p>
        </p:txBody>
      </p:sp>
      <p:sp>
        <p:nvSpPr>
          <p:cNvPr id="26" name="Text 19"/>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0F172A"/>
                </a:solidFill>
                <a:latin typeface="Calibri" pitchFamily="34" charset="0"/>
                <a:ea typeface="Calibri" pitchFamily="34" charset="-122"/>
                <a:cs typeface="Calibri" pitchFamily="34" charset="-120"/>
              </a:rPr>
              <a:t>How it works</a:t>
            </a:r>
            <a:endParaRPr lang="en-US" sz="3800" dirty="0"/>
          </a:p>
        </p:txBody>
      </p:sp>
      <p:sp>
        <p:nvSpPr>
          <p:cNvPr id="3" name="Text 1"/>
          <p:cNvSpPr txBox="1"/>
          <p:nvPr/>
        </p:nvSpPr>
        <p:spPr>
          <a:xfrm>
            <a:off x="640080" y="1261872"/>
            <a:ext cx="10911535" cy="411480"/>
          </a:xfrm>
          <a:prstGeom prst="rect">
            <a:avLst/>
          </a:prstGeom>
          <a:noFill/>
          <a:ln/>
        </p:spPr>
        <p:txBody>
          <a:bodyPr wrap="square" lIns="0" tIns="0" rIns="0" bIns="0" rtlCol="0" anchor="t"/>
          <a:lstStyle/>
          <a:p>
            <a:pPr indent="0" marL="0">
              <a:buNone/>
            </a:pPr>
            <a:r>
              <a:rPr lang="en-US" sz="1600" dirty="0">
                <a:solidFill>
                  <a:srgbClr val="64748B"/>
                </a:solidFill>
                <a:latin typeface="Calibri" pitchFamily="34" charset="0"/>
                <a:ea typeface="Calibri" pitchFamily="34" charset="-122"/>
                <a:cs typeface="Calibri" pitchFamily="34" charset="-120"/>
              </a:rPr>
              <a:t>Single Cloud Run container, Google Gemini, Firebase in live mode</a:t>
            </a:r>
            <a:endParaRPr lang="en-US" sz="1600" dirty="0"/>
          </a:p>
        </p:txBody>
      </p:sp>
      <p:sp>
        <p:nvSpPr>
          <p:cNvPr id="4" name="Text 2"/>
          <p:cNvSpPr txBox="1"/>
          <p:nvPr/>
        </p:nvSpPr>
        <p:spPr>
          <a:xfrm>
            <a:off x="640080" y="1691640"/>
            <a:ext cx="4572000" cy="274320"/>
          </a:xfrm>
          <a:prstGeom prst="rect">
            <a:avLst/>
          </a:prstGeom>
          <a:noFill/>
          <a:ln/>
        </p:spPr>
        <p:txBody>
          <a:bodyPr wrap="square" lIns="0" tIns="0" rIns="0" bIns="0" rtlCol="0" anchor="ctr"/>
          <a:lstStyle/>
          <a:p>
            <a:pPr indent="0" marL="0">
              <a:buNone/>
            </a:pPr>
            <a:r>
              <a:rPr lang="en-US" sz="1100" b="1" spc="200" kern="0" dirty="0">
                <a:solidFill>
                  <a:srgbClr val="6366F1"/>
                </a:solidFill>
                <a:latin typeface="Calibri" pitchFamily="34" charset="0"/>
                <a:ea typeface="Calibri" pitchFamily="34" charset="-122"/>
                <a:cs typeface="Calibri" pitchFamily="34" charset="-120"/>
              </a:rPr>
              <a:t>INTAKE AND UNDERSTANDING</a:t>
            </a:r>
            <a:endParaRPr lang="en-US" sz="1100" dirty="0"/>
          </a:p>
        </p:txBody>
      </p:sp>
      <p:sp>
        <p:nvSpPr>
          <p:cNvPr id="5" name="Shape 3"/>
          <p:cNvSpPr/>
          <p:nvPr/>
        </p:nvSpPr>
        <p:spPr>
          <a:xfrm>
            <a:off x="685800" y="2011680"/>
            <a:ext cx="233172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795528" y="2121408"/>
            <a:ext cx="310896" cy="310896"/>
          </a:xfrm>
          <a:prstGeom prst="ellipse">
            <a:avLst/>
          </a:prstGeom>
          <a:solidFill>
            <a:srgbClr val="6366F1"/>
          </a:solidFill>
          <a:ln w="12700">
            <a:solidFill>
              <a:srgbClr val="6366F1"/>
            </a:solidFill>
            <a:prstDash val="solid"/>
          </a:ln>
        </p:spPr>
      </p:sp>
      <p:sp>
        <p:nvSpPr>
          <p:cNvPr id="7" name="Text 5"/>
          <p:cNvSpPr txBox="1"/>
          <p:nvPr/>
        </p:nvSpPr>
        <p:spPr>
          <a:xfrm>
            <a:off x="795528" y="21214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188720" y="2103120"/>
            <a:ext cx="173736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Citizen channels</a:t>
            </a:r>
            <a:endParaRPr lang="en-US" sz="1400" dirty="0"/>
          </a:p>
        </p:txBody>
      </p:sp>
      <p:sp>
        <p:nvSpPr>
          <p:cNvPr id="9" name="Text 7"/>
          <p:cNvSpPr txBox="1"/>
          <p:nvPr/>
        </p:nvSpPr>
        <p:spPr>
          <a:xfrm>
            <a:off x="822960" y="2514600"/>
            <a:ext cx="2057400" cy="59436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Web form, voice, photo, WhatsApp webhook (signed)</a:t>
            </a:r>
            <a:endParaRPr lang="en-US" sz="1150" dirty="0"/>
          </a:p>
        </p:txBody>
      </p:sp>
      <p:sp>
        <p:nvSpPr>
          <p:cNvPr id="10" name="Shape 8"/>
          <p:cNvSpPr/>
          <p:nvPr/>
        </p:nvSpPr>
        <p:spPr>
          <a:xfrm>
            <a:off x="3566160" y="2011680"/>
            <a:ext cx="233172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76200" dist="25400" dir="5400000">
              <a:srgbClr val="000000">
                <a:alpha val="8000"/>
              </a:srgbClr>
            </a:outerShdw>
          </a:effectLst>
        </p:spPr>
      </p:sp>
      <p:sp>
        <p:nvSpPr>
          <p:cNvPr id="11" name="Shape 9"/>
          <p:cNvSpPr/>
          <p:nvPr/>
        </p:nvSpPr>
        <p:spPr>
          <a:xfrm>
            <a:off x="3675888" y="2121408"/>
            <a:ext cx="310896" cy="310896"/>
          </a:xfrm>
          <a:prstGeom prst="ellipse">
            <a:avLst/>
          </a:prstGeom>
          <a:solidFill>
            <a:srgbClr val="6366F1"/>
          </a:solidFill>
          <a:ln w="12700">
            <a:solidFill>
              <a:srgbClr val="6366F1"/>
            </a:solidFill>
            <a:prstDash val="solid"/>
          </a:ln>
        </p:spPr>
      </p:sp>
      <p:sp>
        <p:nvSpPr>
          <p:cNvPr id="12" name="Text 10"/>
          <p:cNvSpPr txBox="1"/>
          <p:nvPr/>
        </p:nvSpPr>
        <p:spPr>
          <a:xfrm>
            <a:off x="3675888" y="21214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4069080" y="2103120"/>
            <a:ext cx="173736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Express API</a:t>
            </a:r>
            <a:endParaRPr lang="en-US" sz="1400" dirty="0"/>
          </a:p>
        </p:txBody>
      </p:sp>
      <p:sp>
        <p:nvSpPr>
          <p:cNvPr id="14" name="Text 12"/>
          <p:cNvSpPr txBox="1"/>
          <p:nvPr/>
        </p:nvSpPr>
        <p:spPr>
          <a:xfrm>
            <a:off x="3703320" y="2514600"/>
            <a:ext cx="2057400" cy="59436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Cloud Run. PII redaction, rate limits, validation</a:t>
            </a:r>
            <a:endParaRPr lang="en-US" sz="1150" dirty="0"/>
          </a:p>
        </p:txBody>
      </p:sp>
      <p:sp>
        <p:nvSpPr>
          <p:cNvPr id="15" name="Shape 13"/>
          <p:cNvSpPr/>
          <p:nvPr/>
        </p:nvSpPr>
        <p:spPr>
          <a:xfrm>
            <a:off x="6446520" y="2011680"/>
            <a:ext cx="2331720" cy="1143000"/>
          </a:xfrm>
          <a:prstGeom prst="roundRect">
            <a:avLst>
              <a:gd name="adj" fmla="val 8000"/>
            </a:avLst>
          </a:prstGeom>
          <a:solidFill>
            <a:srgbClr val="6366F1"/>
          </a:solidFill>
          <a:ln w="9525">
            <a:solidFill>
              <a:srgbClr val="6366F1"/>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6556248" y="2121408"/>
            <a:ext cx="310896" cy="310896"/>
          </a:xfrm>
          <a:prstGeom prst="ellipse">
            <a:avLst/>
          </a:prstGeom>
          <a:solidFill>
            <a:srgbClr val="FFFFFF"/>
          </a:solidFill>
          <a:ln w="12700">
            <a:solidFill>
              <a:srgbClr val="FFFFFF"/>
            </a:solidFill>
            <a:prstDash val="solid"/>
          </a:ln>
        </p:spPr>
      </p:sp>
      <p:sp>
        <p:nvSpPr>
          <p:cNvPr id="17" name="Text 15"/>
          <p:cNvSpPr txBox="1"/>
          <p:nvPr/>
        </p:nvSpPr>
        <p:spPr>
          <a:xfrm>
            <a:off x="6556248" y="2121408"/>
            <a:ext cx="310896" cy="310896"/>
          </a:xfrm>
          <a:prstGeom prst="rect">
            <a:avLst/>
          </a:prstGeom>
          <a:noFill/>
          <a:ln/>
        </p:spPr>
        <p:txBody>
          <a:bodyPr wrap="square" lIns="0" tIns="0" rIns="0" bIns="0" rtlCol="0" anchor="ctr"/>
          <a:lstStyle/>
          <a:p>
            <a:pPr algn="ctr" indent="0" marL="0">
              <a:buNone/>
            </a:pPr>
            <a:r>
              <a:rPr lang="en-US" sz="1200" b="1" dirty="0">
                <a:solidFill>
                  <a:srgbClr val="6366F1"/>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6949440" y="2103120"/>
            <a:ext cx="173736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Gemini</a:t>
            </a:r>
            <a:endParaRPr lang="en-US" sz="1400" dirty="0"/>
          </a:p>
        </p:txBody>
      </p:sp>
      <p:sp>
        <p:nvSpPr>
          <p:cNvPr id="19" name="Text 17"/>
          <p:cNvSpPr txBox="1"/>
          <p:nvPr/>
        </p:nvSpPr>
        <p:spPr>
          <a:xfrm>
            <a:off x="6583680" y="2514600"/>
            <a:ext cx="2057400" cy="594360"/>
          </a:xfrm>
          <a:prstGeom prst="rect">
            <a:avLst/>
          </a:prstGeom>
          <a:noFill/>
          <a:ln/>
        </p:spPr>
        <p:txBody>
          <a:bodyPr wrap="square" lIns="0" tIns="0" rIns="0" bIns="0" rtlCol="0" anchor="t"/>
          <a:lstStyle/>
          <a:p>
            <a:pPr indent="0" marL="0">
              <a:buNone/>
            </a:pPr>
            <a:r>
              <a:rPr lang="en-US" sz="1150" dirty="0">
                <a:solidFill>
                  <a:srgbClr val="E0E7FF"/>
                </a:solidFill>
                <a:latin typeface="Calibri" pitchFamily="34" charset="0"/>
                <a:ea typeface="Calibri" pitchFamily="34" charset="-122"/>
                <a:cs typeface="Calibri" pitchFamily="34" charset="-120"/>
              </a:rPr>
              <a:t>Transcribe, translate, classify, urgency, duplicates</a:t>
            </a:r>
            <a:endParaRPr lang="en-US" sz="1150" dirty="0"/>
          </a:p>
        </p:txBody>
      </p:sp>
      <p:sp>
        <p:nvSpPr>
          <p:cNvPr id="20" name="Shape 18"/>
          <p:cNvSpPr/>
          <p:nvPr/>
        </p:nvSpPr>
        <p:spPr>
          <a:xfrm>
            <a:off x="9326880" y="2011680"/>
            <a:ext cx="233172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76200" dist="25400" dir="5400000">
              <a:srgbClr val="000000">
                <a:alpha val="8000"/>
              </a:srgbClr>
            </a:outerShdw>
          </a:effectLst>
        </p:spPr>
      </p:sp>
      <p:sp>
        <p:nvSpPr>
          <p:cNvPr id="21" name="Shape 19"/>
          <p:cNvSpPr/>
          <p:nvPr/>
        </p:nvSpPr>
        <p:spPr>
          <a:xfrm>
            <a:off x="9436608" y="2121408"/>
            <a:ext cx="310896" cy="310896"/>
          </a:xfrm>
          <a:prstGeom prst="ellipse">
            <a:avLst/>
          </a:prstGeom>
          <a:solidFill>
            <a:srgbClr val="6366F1"/>
          </a:solidFill>
          <a:ln w="12700">
            <a:solidFill>
              <a:srgbClr val="6366F1"/>
            </a:solidFill>
            <a:prstDash val="solid"/>
          </a:ln>
        </p:spPr>
      </p:sp>
      <p:sp>
        <p:nvSpPr>
          <p:cNvPr id="22" name="Text 20"/>
          <p:cNvSpPr txBox="1"/>
          <p:nvPr/>
        </p:nvSpPr>
        <p:spPr>
          <a:xfrm>
            <a:off x="9436608" y="21214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9829800" y="2103120"/>
            <a:ext cx="173736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Storage</a:t>
            </a:r>
            <a:endParaRPr lang="en-US" sz="1400" dirty="0"/>
          </a:p>
        </p:txBody>
      </p:sp>
      <p:sp>
        <p:nvSpPr>
          <p:cNvPr id="24" name="Text 22"/>
          <p:cNvSpPr txBox="1"/>
          <p:nvPr/>
        </p:nvSpPr>
        <p:spPr>
          <a:xfrm>
            <a:off x="9464040" y="2514600"/>
            <a:ext cx="2057400" cy="59436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Firestore in live mode, in-memory sandbox in demo mode</a:t>
            </a:r>
            <a:endParaRPr lang="en-US" sz="1150" dirty="0"/>
          </a:p>
        </p:txBody>
      </p:sp>
      <p:sp>
        <p:nvSpPr>
          <p:cNvPr id="25" name="Shape 23"/>
          <p:cNvSpPr/>
          <p:nvPr/>
        </p:nvSpPr>
        <p:spPr>
          <a:xfrm>
            <a:off x="3090672" y="2395728"/>
            <a:ext cx="402336" cy="365760"/>
          </a:xfrm>
          <a:prstGeom prst="rightArrow">
            <a:avLst/>
          </a:prstGeom>
          <a:solidFill>
            <a:srgbClr val="8B5CF6"/>
          </a:solidFill>
          <a:ln w="12700">
            <a:solidFill>
              <a:srgbClr val="8B5CF6"/>
            </a:solidFill>
            <a:prstDash val="solid"/>
          </a:ln>
        </p:spPr>
      </p:sp>
      <p:sp>
        <p:nvSpPr>
          <p:cNvPr id="26" name="Shape 24"/>
          <p:cNvSpPr/>
          <p:nvPr/>
        </p:nvSpPr>
        <p:spPr>
          <a:xfrm>
            <a:off x="5971032" y="2395728"/>
            <a:ext cx="402336" cy="365760"/>
          </a:xfrm>
          <a:prstGeom prst="rightArrow">
            <a:avLst/>
          </a:prstGeom>
          <a:solidFill>
            <a:srgbClr val="8B5CF6"/>
          </a:solidFill>
          <a:ln w="12700">
            <a:solidFill>
              <a:srgbClr val="8B5CF6"/>
            </a:solidFill>
            <a:prstDash val="solid"/>
          </a:ln>
        </p:spPr>
      </p:sp>
      <p:sp>
        <p:nvSpPr>
          <p:cNvPr id="27" name="Shape 25"/>
          <p:cNvSpPr/>
          <p:nvPr/>
        </p:nvSpPr>
        <p:spPr>
          <a:xfrm>
            <a:off x="8851392" y="2395728"/>
            <a:ext cx="402336" cy="365760"/>
          </a:xfrm>
          <a:prstGeom prst="rightArrow">
            <a:avLst/>
          </a:prstGeom>
          <a:solidFill>
            <a:srgbClr val="8B5CF6"/>
          </a:solidFill>
          <a:ln w="12700">
            <a:solidFill>
              <a:srgbClr val="8B5CF6"/>
            </a:solidFill>
            <a:prstDash val="solid"/>
          </a:ln>
        </p:spPr>
      </p:sp>
      <p:sp>
        <p:nvSpPr>
          <p:cNvPr id="28" name="Shape 26"/>
          <p:cNvSpPr/>
          <p:nvPr/>
        </p:nvSpPr>
        <p:spPr>
          <a:xfrm>
            <a:off x="10309860" y="3282696"/>
            <a:ext cx="365760" cy="457200"/>
          </a:xfrm>
          <a:prstGeom prst="downArrow">
            <a:avLst/>
          </a:prstGeom>
          <a:solidFill>
            <a:srgbClr val="8B5CF6"/>
          </a:solidFill>
          <a:ln w="12700">
            <a:solidFill>
              <a:srgbClr val="8B5CF6"/>
            </a:solidFill>
            <a:prstDash val="solid"/>
          </a:ln>
        </p:spPr>
      </p:sp>
      <p:sp>
        <p:nvSpPr>
          <p:cNvPr id="29" name="Text 27"/>
          <p:cNvSpPr txBox="1"/>
          <p:nvPr/>
        </p:nvSpPr>
        <p:spPr>
          <a:xfrm>
            <a:off x="640080" y="3931920"/>
            <a:ext cx="4572000" cy="274320"/>
          </a:xfrm>
          <a:prstGeom prst="rect">
            <a:avLst/>
          </a:prstGeom>
          <a:noFill/>
          <a:ln/>
        </p:spPr>
        <p:txBody>
          <a:bodyPr wrap="square" lIns="0" tIns="0" rIns="0" bIns="0" rtlCol="0" anchor="ctr"/>
          <a:lstStyle/>
          <a:p>
            <a:pPr indent="0" marL="0">
              <a:buNone/>
            </a:pPr>
            <a:r>
              <a:rPr lang="en-US" sz="1100" b="1" spc="200" kern="0" dirty="0">
                <a:solidFill>
                  <a:srgbClr val="6366F1"/>
                </a:solidFill>
                <a:latin typeface="Calibri" pitchFamily="34" charset="0"/>
                <a:ea typeface="Calibri" pitchFamily="34" charset="-122"/>
                <a:cs typeface="Calibri" pitchFamily="34" charset="-120"/>
              </a:rPr>
              <a:t>PRIORITISATION AND DELIVERY</a:t>
            </a:r>
            <a:endParaRPr lang="en-US" sz="1100" dirty="0"/>
          </a:p>
        </p:txBody>
      </p:sp>
      <p:sp>
        <p:nvSpPr>
          <p:cNvPr id="30" name="Shape 28"/>
          <p:cNvSpPr/>
          <p:nvPr/>
        </p:nvSpPr>
        <p:spPr>
          <a:xfrm>
            <a:off x="9326880" y="4251960"/>
            <a:ext cx="233172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76200" dist="25400" dir="5400000">
              <a:srgbClr val="000000">
                <a:alpha val="8000"/>
              </a:srgbClr>
            </a:outerShdw>
          </a:effectLst>
        </p:spPr>
      </p:sp>
      <p:sp>
        <p:nvSpPr>
          <p:cNvPr id="31" name="Shape 29"/>
          <p:cNvSpPr/>
          <p:nvPr/>
        </p:nvSpPr>
        <p:spPr>
          <a:xfrm>
            <a:off x="9436608" y="4361688"/>
            <a:ext cx="310896" cy="310896"/>
          </a:xfrm>
          <a:prstGeom prst="ellipse">
            <a:avLst/>
          </a:prstGeom>
          <a:solidFill>
            <a:srgbClr val="6366F1"/>
          </a:solidFill>
          <a:ln w="12700">
            <a:solidFill>
              <a:srgbClr val="6366F1"/>
            </a:solidFill>
            <a:prstDash val="solid"/>
          </a:ln>
        </p:spPr>
      </p:sp>
      <p:sp>
        <p:nvSpPr>
          <p:cNvPr id="32" name="Text 30"/>
          <p:cNvSpPr txBox="1"/>
          <p:nvPr/>
        </p:nvSpPr>
        <p:spPr>
          <a:xfrm>
            <a:off x="9436608" y="43616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txBox="1"/>
          <p:nvPr/>
        </p:nvSpPr>
        <p:spPr>
          <a:xfrm>
            <a:off x="9829800" y="4343400"/>
            <a:ext cx="173736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District data join</a:t>
            </a:r>
            <a:endParaRPr lang="en-US" sz="1400" dirty="0"/>
          </a:p>
        </p:txBody>
      </p:sp>
      <p:sp>
        <p:nvSpPr>
          <p:cNvPr id="34" name="Text 32"/>
          <p:cNvSpPr txBox="1"/>
          <p:nvPr/>
        </p:nvSpPr>
        <p:spPr>
          <a:xfrm>
            <a:off x="9464040" y="4754880"/>
            <a:ext cx="2057400" cy="59436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Census 2011, NITI aspirational flag, NFHS-5 indicators</a:t>
            </a:r>
            <a:endParaRPr lang="en-US" sz="1150" dirty="0"/>
          </a:p>
        </p:txBody>
      </p:sp>
      <p:sp>
        <p:nvSpPr>
          <p:cNvPr id="35" name="Shape 33"/>
          <p:cNvSpPr/>
          <p:nvPr/>
        </p:nvSpPr>
        <p:spPr>
          <a:xfrm>
            <a:off x="6446520" y="4251960"/>
            <a:ext cx="233172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76200" dist="25400" dir="5400000">
              <a:srgbClr val="000000">
                <a:alpha val="8000"/>
              </a:srgbClr>
            </a:outerShdw>
          </a:effectLst>
        </p:spPr>
      </p:sp>
      <p:sp>
        <p:nvSpPr>
          <p:cNvPr id="36" name="Shape 34"/>
          <p:cNvSpPr/>
          <p:nvPr/>
        </p:nvSpPr>
        <p:spPr>
          <a:xfrm>
            <a:off x="6556248" y="4361688"/>
            <a:ext cx="310896" cy="310896"/>
          </a:xfrm>
          <a:prstGeom prst="ellipse">
            <a:avLst/>
          </a:prstGeom>
          <a:solidFill>
            <a:srgbClr val="6366F1"/>
          </a:solidFill>
          <a:ln w="12700">
            <a:solidFill>
              <a:srgbClr val="6366F1"/>
            </a:solidFill>
            <a:prstDash val="solid"/>
          </a:ln>
        </p:spPr>
      </p:sp>
      <p:sp>
        <p:nvSpPr>
          <p:cNvPr id="37" name="Text 35"/>
          <p:cNvSpPr txBox="1"/>
          <p:nvPr/>
        </p:nvSpPr>
        <p:spPr>
          <a:xfrm>
            <a:off x="6556248" y="43616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8" name="Text 36"/>
          <p:cNvSpPr txBox="1"/>
          <p:nvPr/>
        </p:nvSpPr>
        <p:spPr>
          <a:xfrm>
            <a:off x="6949440" y="4343400"/>
            <a:ext cx="173736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Need-weighted score</a:t>
            </a:r>
            <a:endParaRPr lang="en-US" sz="1400" dirty="0"/>
          </a:p>
        </p:txBody>
      </p:sp>
      <p:sp>
        <p:nvSpPr>
          <p:cNvPr id="39" name="Text 37"/>
          <p:cNvSpPr txBox="1"/>
          <p:nvPr/>
        </p:nvSpPr>
        <p:spPr>
          <a:xfrm>
            <a:off x="6583680" y="4754880"/>
            <a:ext cx="2057400" cy="59436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Per 100k population, urgency, deprivation, age</a:t>
            </a:r>
            <a:endParaRPr lang="en-US" sz="1150" dirty="0"/>
          </a:p>
        </p:txBody>
      </p:sp>
      <p:sp>
        <p:nvSpPr>
          <p:cNvPr id="40" name="Shape 38"/>
          <p:cNvSpPr/>
          <p:nvPr/>
        </p:nvSpPr>
        <p:spPr>
          <a:xfrm>
            <a:off x="3566160" y="4251960"/>
            <a:ext cx="2331720" cy="1143000"/>
          </a:xfrm>
          <a:prstGeom prst="roundRect">
            <a:avLst>
              <a:gd name="adj" fmla="val 8000"/>
            </a:avLst>
          </a:prstGeom>
          <a:solidFill>
            <a:srgbClr val="6366F1"/>
          </a:solidFill>
          <a:ln w="9525">
            <a:solidFill>
              <a:srgbClr val="6366F1"/>
            </a:solidFill>
            <a:prstDash val="solid"/>
          </a:ln>
          <a:effectLst>
            <a:outerShdw sx="100000" sy="100000" kx="0" ky="0" algn="bl" rotWithShape="0" blurRad="76200" dist="25400" dir="5400000">
              <a:srgbClr val="000000">
                <a:alpha val="8000"/>
              </a:srgbClr>
            </a:outerShdw>
          </a:effectLst>
        </p:spPr>
      </p:sp>
      <p:sp>
        <p:nvSpPr>
          <p:cNvPr id="41" name="Shape 39"/>
          <p:cNvSpPr/>
          <p:nvPr/>
        </p:nvSpPr>
        <p:spPr>
          <a:xfrm>
            <a:off x="3675888" y="4361688"/>
            <a:ext cx="310896" cy="310896"/>
          </a:xfrm>
          <a:prstGeom prst="ellipse">
            <a:avLst/>
          </a:prstGeom>
          <a:solidFill>
            <a:srgbClr val="FFFFFF"/>
          </a:solidFill>
          <a:ln w="12700">
            <a:solidFill>
              <a:srgbClr val="FFFFFF"/>
            </a:solidFill>
            <a:prstDash val="solid"/>
          </a:ln>
        </p:spPr>
      </p:sp>
      <p:sp>
        <p:nvSpPr>
          <p:cNvPr id="42" name="Text 40"/>
          <p:cNvSpPr txBox="1"/>
          <p:nvPr/>
        </p:nvSpPr>
        <p:spPr>
          <a:xfrm>
            <a:off x="3675888" y="4361688"/>
            <a:ext cx="310896" cy="310896"/>
          </a:xfrm>
          <a:prstGeom prst="rect">
            <a:avLst/>
          </a:prstGeom>
          <a:noFill/>
          <a:ln/>
        </p:spPr>
        <p:txBody>
          <a:bodyPr wrap="square" lIns="0" tIns="0" rIns="0" bIns="0" rtlCol="0" anchor="ctr"/>
          <a:lstStyle/>
          <a:p>
            <a:pPr algn="ctr" indent="0" marL="0">
              <a:buNone/>
            </a:pPr>
            <a:r>
              <a:rPr lang="en-US" sz="1200" b="1" dirty="0">
                <a:solidFill>
                  <a:srgbClr val="6366F1"/>
                </a:solidFill>
                <a:latin typeface="Calibri" pitchFamily="34" charset="0"/>
                <a:ea typeface="Calibri" pitchFamily="34" charset="-122"/>
                <a:cs typeface="Calibri" pitchFamily="34" charset="-120"/>
              </a:rPr>
              <a:t>7</a:t>
            </a:r>
            <a:endParaRPr lang="en-US" sz="1200" dirty="0"/>
          </a:p>
        </p:txBody>
      </p:sp>
      <p:sp>
        <p:nvSpPr>
          <p:cNvPr id="43" name="Text 41"/>
          <p:cNvSpPr txBox="1"/>
          <p:nvPr/>
        </p:nvSpPr>
        <p:spPr>
          <a:xfrm>
            <a:off x="4069080" y="4343400"/>
            <a:ext cx="173736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Gemini recommends</a:t>
            </a:r>
            <a:endParaRPr lang="en-US" sz="1400" dirty="0"/>
          </a:p>
        </p:txBody>
      </p:sp>
      <p:sp>
        <p:nvSpPr>
          <p:cNvPr id="44" name="Text 42"/>
          <p:cNvSpPr txBox="1"/>
          <p:nvPr/>
        </p:nvSpPr>
        <p:spPr>
          <a:xfrm>
            <a:off x="3703320" y="4754880"/>
            <a:ext cx="2057400" cy="594360"/>
          </a:xfrm>
          <a:prstGeom prst="rect">
            <a:avLst/>
          </a:prstGeom>
          <a:noFill/>
          <a:ln/>
        </p:spPr>
        <p:txBody>
          <a:bodyPr wrap="square" lIns="0" tIns="0" rIns="0" bIns="0" rtlCol="0" anchor="t"/>
          <a:lstStyle/>
          <a:p>
            <a:pPr indent="0" marL="0">
              <a:buNone/>
            </a:pPr>
            <a:r>
              <a:rPr lang="en-US" sz="1150" dirty="0">
                <a:solidFill>
                  <a:srgbClr val="E0E7FF"/>
                </a:solidFill>
                <a:latin typeface="Calibri" pitchFamily="34" charset="0"/>
                <a:ea typeface="Calibri" pitchFamily="34" charset="-122"/>
                <a:cs typeface="Calibri" pitchFamily="34" charset="-120"/>
              </a:rPr>
              <a:t>Structured projects with evidence and confidence</a:t>
            </a:r>
            <a:endParaRPr lang="en-US" sz="1150" dirty="0"/>
          </a:p>
        </p:txBody>
      </p:sp>
      <p:sp>
        <p:nvSpPr>
          <p:cNvPr id="45" name="Shape 43"/>
          <p:cNvSpPr/>
          <p:nvPr/>
        </p:nvSpPr>
        <p:spPr>
          <a:xfrm>
            <a:off x="685800" y="4251960"/>
            <a:ext cx="233172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76200" dist="25400" dir="5400000">
              <a:srgbClr val="000000">
                <a:alpha val="8000"/>
              </a:srgbClr>
            </a:outerShdw>
          </a:effectLst>
        </p:spPr>
      </p:sp>
      <p:sp>
        <p:nvSpPr>
          <p:cNvPr id="46" name="Shape 44"/>
          <p:cNvSpPr/>
          <p:nvPr/>
        </p:nvSpPr>
        <p:spPr>
          <a:xfrm>
            <a:off x="795528" y="4361688"/>
            <a:ext cx="310896" cy="310896"/>
          </a:xfrm>
          <a:prstGeom prst="ellipse">
            <a:avLst/>
          </a:prstGeom>
          <a:solidFill>
            <a:srgbClr val="6366F1"/>
          </a:solidFill>
          <a:ln w="12700">
            <a:solidFill>
              <a:srgbClr val="6366F1"/>
            </a:solidFill>
            <a:prstDash val="solid"/>
          </a:ln>
        </p:spPr>
      </p:sp>
      <p:sp>
        <p:nvSpPr>
          <p:cNvPr id="47" name="Text 45"/>
          <p:cNvSpPr txBox="1"/>
          <p:nvPr/>
        </p:nvSpPr>
        <p:spPr>
          <a:xfrm>
            <a:off x="795528" y="43616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8" name="Text 46"/>
          <p:cNvSpPr txBox="1"/>
          <p:nvPr/>
        </p:nvSpPr>
        <p:spPr>
          <a:xfrm>
            <a:off x="1188720" y="4343400"/>
            <a:ext cx="173736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Dashboard + tracker</a:t>
            </a:r>
            <a:endParaRPr lang="en-US" sz="1400" dirty="0"/>
          </a:p>
        </p:txBody>
      </p:sp>
      <p:sp>
        <p:nvSpPr>
          <p:cNvPr id="49" name="Text 47"/>
          <p:cNvSpPr txBox="1"/>
          <p:nvPr/>
        </p:nvSpPr>
        <p:spPr>
          <a:xfrm>
            <a:off x="822960" y="4754880"/>
            <a:ext cx="2057400" cy="59436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Heatmap, rankings, citizen tracking by ID</a:t>
            </a:r>
            <a:endParaRPr lang="en-US" sz="1150" dirty="0"/>
          </a:p>
        </p:txBody>
      </p:sp>
      <p:sp>
        <p:nvSpPr>
          <p:cNvPr id="50" name="Shape 48"/>
          <p:cNvSpPr/>
          <p:nvPr/>
        </p:nvSpPr>
        <p:spPr>
          <a:xfrm>
            <a:off x="3090672" y="4636008"/>
            <a:ext cx="402336" cy="365760"/>
          </a:xfrm>
          <a:prstGeom prst="leftArrow">
            <a:avLst/>
          </a:prstGeom>
          <a:solidFill>
            <a:srgbClr val="8B5CF6"/>
          </a:solidFill>
          <a:ln w="12700">
            <a:solidFill>
              <a:srgbClr val="8B5CF6"/>
            </a:solidFill>
            <a:prstDash val="solid"/>
          </a:ln>
        </p:spPr>
      </p:sp>
      <p:sp>
        <p:nvSpPr>
          <p:cNvPr id="51" name="Shape 49"/>
          <p:cNvSpPr/>
          <p:nvPr/>
        </p:nvSpPr>
        <p:spPr>
          <a:xfrm>
            <a:off x="5971032" y="4636008"/>
            <a:ext cx="402336" cy="365760"/>
          </a:xfrm>
          <a:prstGeom prst="leftArrow">
            <a:avLst/>
          </a:prstGeom>
          <a:solidFill>
            <a:srgbClr val="8B5CF6"/>
          </a:solidFill>
          <a:ln w="12700">
            <a:solidFill>
              <a:srgbClr val="8B5CF6"/>
            </a:solidFill>
            <a:prstDash val="solid"/>
          </a:ln>
        </p:spPr>
      </p:sp>
      <p:sp>
        <p:nvSpPr>
          <p:cNvPr id="52" name="Shape 50"/>
          <p:cNvSpPr/>
          <p:nvPr/>
        </p:nvSpPr>
        <p:spPr>
          <a:xfrm>
            <a:off x="8851392" y="4636008"/>
            <a:ext cx="402336" cy="365760"/>
          </a:xfrm>
          <a:prstGeom prst="leftArrow">
            <a:avLst/>
          </a:prstGeom>
          <a:solidFill>
            <a:srgbClr val="8B5CF6"/>
          </a:solidFill>
          <a:ln w="12700">
            <a:solidFill>
              <a:srgbClr val="8B5CF6"/>
            </a:solidFill>
            <a:prstDash val="solid"/>
          </a:ln>
        </p:spPr>
      </p:sp>
      <p:pic>
        <p:nvPicPr>
          <p:cNvPr id="53" name="Image 0" descr="/tmp/deck/mark.png">    </p:cNvPr>
          <p:cNvPicPr>
            <a:picLocks noChangeAspect="1"/>
          </p:cNvPicPr>
          <p:nvPr/>
        </p:nvPicPr>
        <p:blipFill>
          <a:blip r:embed="rId1"/>
          <a:stretch>
            <a:fillRect/>
          </a:stretch>
        </p:blipFill>
        <p:spPr>
          <a:xfrm>
            <a:off x="640080" y="6355080"/>
            <a:ext cx="237744" cy="246888"/>
          </a:xfrm>
          <a:prstGeom prst="rect">
            <a:avLst/>
          </a:prstGeom>
        </p:spPr>
      </p:pic>
      <p:sp>
        <p:nvSpPr>
          <p:cNvPr id="54" name="Text 51"/>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NagarVaani</a:t>
            </a:r>
            <a:endParaRPr lang="en-US" sz="1100" dirty="0"/>
          </a:p>
        </p:txBody>
      </p:sp>
      <p:sp>
        <p:nvSpPr>
          <p:cNvPr id="55" name="Text 52"/>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0F172A"/>
                </a:solidFill>
                <a:latin typeface="Calibri" pitchFamily="34" charset="0"/>
                <a:ea typeface="Calibri" pitchFamily="34" charset="-122"/>
                <a:cs typeface="Calibri" pitchFamily="34" charset="-120"/>
              </a:rPr>
              <a:t>Google Gemini does the work, with guardrails</a:t>
            </a:r>
            <a:endParaRPr lang="en-US" sz="3800" dirty="0"/>
          </a:p>
        </p:txBody>
      </p:sp>
      <p:sp>
        <p:nvSpPr>
          <p:cNvPr id="3" name="Text 1"/>
          <p:cNvSpPr txBox="1"/>
          <p:nvPr/>
        </p:nvSpPr>
        <p:spPr>
          <a:xfrm>
            <a:off x="640080" y="1261872"/>
            <a:ext cx="10911535" cy="411480"/>
          </a:xfrm>
          <a:prstGeom prst="rect">
            <a:avLst/>
          </a:prstGeom>
          <a:noFill/>
          <a:ln/>
        </p:spPr>
        <p:txBody>
          <a:bodyPr wrap="square" lIns="0" tIns="0" rIns="0" bIns="0" rtlCol="0" anchor="t"/>
          <a:lstStyle/>
          <a:p>
            <a:pPr indent="0" marL="0">
              <a:buNone/>
            </a:pPr>
            <a:r>
              <a:rPr lang="en-US" sz="1600" dirty="0">
                <a:solidFill>
                  <a:srgbClr val="64748B"/>
                </a:solidFill>
                <a:latin typeface="Calibri" pitchFamily="34" charset="0"/>
                <a:ea typeface="Calibri" pitchFamily="34" charset="-122"/>
                <a:cs typeface="Calibri" pitchFamily="34" charset="-120"/>
              </a:rPr>
              <a:t>Where the AI is used, and how we keep it honest</a:t>
            </a:r>
            <a:endParaRPr lang="en-US" sz="1600" dirty="0"/>
          </a:p>
        </p:txBody>
      </p:sp>
      <p:sp>
        <p:nvSpPr>
          <p:cNvPr id="4" name="Shape 2"/>
          <p:cNvSpPr/>
          <p:nvPr/>
        </p:nvSpPr>
        <p:spPr>
          <a:xfrm>
            <a:off x="640080" y="1874520"/>
            <a:ext cx="3429000" cy="2011680"/>
          </a:xfrm>
          <a:prstGeom prst="roundRect">
            <a:avLst>
              <a:gd name="adj" fmla="val 5455"/>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68680" y="2103120"/>
            <a:ext cx="548640" cy="548640"/>
          </a:xfrm>
          <a:prstGeom prst="ellipse">
            <a:avLst/>
          </a:prstGeom>
          <a:solidFill>
            <a:srgbClr val="6366F1"/>
          </a:solidFill>
          <a:ln w="12700">
            <a:solidFill>
              <a:srgbClr val="6366F1"/>
            </a:solidFill>
            <a:prstDash val="solid"/>
          </a:ln>
        </p:spPr>
      </p:sp>
      <p:pic>
        <p:nvPicPr>
          <p:cNvPr id="6" name="Image 0" descr="preencoded.png">    </p:cNvPr>
          <p:cNvPicPr>
            <a:picLocks noChangeAspect="1"/>
          </p:cNvPicPr>
          <p:nvPr/>
        </p:nvPicPr>
        <p:blipFill>
          <a:blip r:embed="rId1"/>
          <a:stretch>
            <a:fillRect/>
          </a:stretch>
        </p:blipFill>
        <p:spPr>
          <a:xfrm>
            <a:off x="1005840" y="2240280"/>
            <a:ext cx="274320" cy="274320"/>
          </a:xfrm>
          <a:prstGeom prst="rect">
            <a:avLst/>
          </a:prstGeom>
        </p:spPr>
      </p:pic>
      <p:sp>
        <p:nvSpPr>
          <p:cNvPr id="7" name="Text 4"/>
          <p:cNvSpPr txBox="1"/>
          <p:nvPr/>
        </p:nvSpPr>
        <p:spPr>
          <a:xfrm>
            <a:off x="1554480" y="2130552"/>
            <a:ext cx="233172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Transcription</a:t>
            </a:r>
            <a:endParaRPr lang="en-US" sz="1700" dirty="0"/>
          </a:p>
        </p:txBody>
      </p:sp>
      <p:sp>
        <p:nvSpPr>
          <p:cNvPr id="8" name="Text 5"/>
          <p:cNvSpPr txBox="1"/>
          <p:nvPr/>
        </p:nvSpPr>
        <p:spPr>
          <a:xfrm>
            <a:off x="868680" y="2770632"/>
            <a:ext cx="2971800" cy="10515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Voice notes become text. The citizen confirms or edits the transcript before submitting.</a:t>
            </a:r>
            <a:endParaRPr lang="en-US" sz="1350" dirty="0"/>
          </a:p>
        </p:txBody>
      </p:sp>
      <p:sp>
        <p:nvSpPr>
          <p:cNvPr id="9" name="Shape 6"/>
          <p:cNvSpPr/>
          <p:nvPr/>
        </p:nvSpPr>
        <p:spPr>
          <a:xfrm>
            <a:off x="4434840" y="1874520"/>
            <a:ext cx="3429000" cy="2011680"/>
          </a:xfrm>
          <a:prstGeom prst="roundRect">
            <a:avLst>
              <a:gd name="adj" fmla="val 5455"/>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0" name="Shape 7"/>
          <p:cNvSpPr/>
          <p:nvPr/>
        </p:nvSpPr>
        <p:spPr>
          <a:xfrm>
            <a:off x="4663440" y="2103120"/>
            <a:ext cx="548640" cy="548640"/>
          </a:xfrm>
          <a:prstGeom prst="ellipse">
            <a:avLst/>
          </a:prstGeom>
          <a:solidFill>
            <a:srgbClr val="6366F1"/>
          </a:solidFill>
          <a:ln w="12700">
            <a:solidFill>
              <a:srgbClr val="6366F1"/>
            </a:solidFill>
            <a:prstDash val="solid"/>
          </a:ln>
        </p:spPr>
      </p:sp>
      <p:pic>
        <p:nvPicPr>
          <p:cNvPr id="11" name="Image 1" descr="preencoded.png">    </p:cNvPr>
          <p:cNvPicPr>
            <a:picLocks noChangeAspect="1"/>
          </p:cNvPicPr>
          <p:nvPr/>
        </p:nvPicPr>
        <p:blipFill>
          <a:blip r:embed="rId2"/>
          <a:stretch>
            <a:fillRect/>
          </a:stretch>
        </p:blipFill>
        <p:spPr>
          <a:xfrm>
            <a:off x="4800600" y="2240280"/>
            <a:ext cx="274320" cy="274320"/>
          </a:xfrm>
          <a:prstGeom prst="rect">
            <a:avLst/>
          </a:prstGeom>
        </p:spPr>
      </p:pic>
      <p:sp>
        <p:nvSpPr>
          <p:cNvPr id="12" name="Text 8"/>
          <p:cNvSpPr txBox="1"/>
          <p:nvPr/>
        </p:nvSpPr>
        <p:spPr>
          <a:xfrm>
            <a:off x="5349240" y="2130552"/>
            <a:ext cx="233172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Classify and translate</a:t>
            </a:r>
            <a:endParaRPr lang="en-US" sz="1700" dirty="0"/>
          </a:p>
        </p:txBody>
      </p:sp>
      <p:sp>
        <p:nvSpPr>
          <p:cNvPr id="13" name="Text 9"/>
          <p:cNvSpPr txBox="1"/>
          <p:nvPr/>
        </p:nvSpPr>
        <p:spPr>
          <a:xfrm>
            <a:off x="4663440" y="2770632"/>
            <a:ext cx="2971800" cy="10515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Language detected, English translation stored, seven categories, schema-validated JSON.</a:t>
            </a:r>
            <a:endParaRPr lang="en-US" sz="1350" dirty="0"/>
          </a:p>
        </p:txBody>
      </p:sp>
      <p:sp>
        <p:nvSpPr>
          <p:cNvPr id="14" name="Shape 10"/>
          <p:cNvSpPr/>
          <p:nvPr/>
        </p:nvSpPr>
        <p:spPr>
          <a:xfrm>
            <a:off x="8229600" y="1874520"/>
            <a:ext cx="3429000" cy="2011680"/>
          </a:xfrm>
          <a:prstGeom prst="roundRect">
            <a:avLst>
              <a:gd name="adj" fmla="val 5455"/>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5" name="Shape 11"/>
          <p:cNvSpPr/>
          <p:nvPr/>
        </p:nvSpPr>
        <p:spPr>
          <a:xfrm>
            <a:off x="8458200" y="2103120"/>
            <a:ext cx="548640" cy="548640"/>
          </a:xfrm>
          <a:prstGeom prst="ellipse">
            <a:avLst/>
          </a:prstGeom>
          <a:solidFill>
            <a:srgbClr val="6366F1"/>
          </a:solidFill>
          <a:ln w="12700">
            <a:solidFill>
              <a:srgbClr val="6366F1"/>
            </a:solidFill>
            <a:prstDash val="solid"/>
          </a:ln>
        </p:spPr>
      </p:sp>
      <p:pic>
        <p:nvPicPr>
          <p:cNvPr id="16" name="Image 2" descr="preencoded.png">    </p:cNvPr>
          <p:cNvPicPr>
            <a:picLocks noChangeAspect="1"/>
          </p:cNvPicPr>
          <p:nvPr/>
        </p:nvPicPr>
        <p:blipFill>
          <a:blip r:embed="rId3"/>
          <a:stretch>
            <a:fillRect/>
          </a:stretch>
        </p:blipFill>
        <p:spPr>
          <a:xfrm>
            <a:off x="8595360" y="2240280"/>
            <a:ext cx="274320" cy="274320"/>
          </a:xfrm>
          <a:prstGeom prst="rect">
            <a:avLst/>
          </a:prstGeom>
        </p:spPr>
      </p:pic>
      <p:sp>
        <p:nvSpPr>
          <p:cNvPr id="17" name="Text 12"/>
          <p:cNvSpPr txBox="1"/>
          <p:nvPr/>
        </p:nvSpPr>
        <p:spPr>
          <a:xfrm>
            <a:off x="9144000" y="2130552"/>
            <a:ext cx="233172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Urgency scoring</a:t>
            </a:r>
            <a:endParaRPr lang="en-US" sz="1700" dirty="0"/>
          </a:p>
        </p:txBody>
      </p:sp>
      <p:sp>
        <p:nvSpPr>
          <p:cNvPr id="18" name="Text 13"/>
          <p:cNvSpPr txBox="1"/>
          <p:nvPr/>
        </p:nvSpPr>
        <p:spPr>
          <a:xfrm>
            <a:off x="8458200" y="2770632"/>
            <a:ext cx="2971800" cy="10515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A 1 to 5 urgency drives ranking and the age-of-unresolved factor.</a:t>
            </a:r>
            <a:endParaRPr lang="en-US" sz="1350" dirty="0"/>
          </a:p>
        </p:txBody>
      </p:sp>
      <p:sp>
        <p:nvSpPr>
          <p:cNvPr id="19" name="Shape 14"/>
          <p:cNvSpPr/>
          <p:nvPr/>
        </p:nvSpPr>
        <p:spPr>
          <a:xfrm>
            <a:off x="640080" y="4206240"/>
            <a:ext cx="3429000" cy="2011680"/>
          </a:xfrm>
          <a:prstGeom prst="roundRect">
            <a:avLst>
              <a:gd name="adj" fmla="val 5455"/>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5"/>
          <p:cNvSpPr/>
          <p:nvPr/>
        </p:nvSpPr>
        <p:spPr>
          <a:xfrm>
            <a:off x="868680" y="4434840"/>
            <a:ext cx="548640" cy="548640"/>
          </a:xfrm>
          <a:prstGeom prst="ellipse">
            <a:avLst/>
          </a:prstGeom>
          <a:solidFill>
            <a:srgbClr val="6366F1"/>
          </a:solidFill>
          <a:ln w="12700">
            <a:solidFill>
              <a:srgbClr val="6366F1"/>
            </a:solidFill>
            <a:prstDash val="solid"/>
          </a:ln>
        </p:spPr>
      </p:sp>
      <p:pic>
        <p:nvPicPr>
          <p:cNvPr id="21" name="Image 3" descr="preencoded.png">    </p:cNvPr>
          <p:cNvPicPr>
            <a:picLocks noChangeAspect="1"/>
          </p:cNvPicPr>
          <p:nvPr/>
        </p:nvPicPr>
        <p:blipFill>
          <a:blip r:embed="rId4"/>
          <a:stretch>
            <a:fillRect/>
          </a:stretch>
        </p:blipFill>
        <p:spPr>
          <a:xfrm>
            <a:off x="1005840" y="4572000"/>
            <a:ext cx="274320" cy="274320"/>
          </a:xfrm>
          <a:prstGeom prst="rect">
            <a:avLst/>
          </a:prstGeom>
        </p:spPr>
      </p:pic>
      <p:sp>
        <p:nvSpPr>
          <p:cNvPr id="22" name="Text 16"/>
          <p:cNvSpPr txBox="1"/>
          <p:nvPr/>
        </p:nvSpPr>
        <p:spPr>
          <a:xfrm>
            <a:off x="1554480" y="4462272"/>
            <a:ext cx="233172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Duplicate detection</a:t>
            </a:r>
            <a:endParaRPr lang="en-US" sz="1700" dirty="0"/>
          </a:p>
        </p:txBody>
      </p:sp>
      <p:sp>
        <p:nvSpPr>
          <p:cNvPr id="23" name="Text 17"/>
          <p:cNvSpPr txBox="1"/>
          <p:nvPr/>
        </p:nvSpPr>
        <p:spPr>
          <a:xfrm>
            <a:off x="868680" y="5102352"/>
            <a:ext cx="2971800" cy="10515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Near-identical reports by text, category, district and location are grouped.</a:t>
            </a:r>
            <a:endParaRPr lang="en-US" sz="1350" dirty="0"/>
          </a:p>
        </p:txBody>
      </p:sp>
      <p:sp>
        <p:nvSpPr>
          <p:cNvPr id="24" name="Shape 18"/>
          <p:cNvSpPr/>
          <p:nvPr/>
        </p:nvSpPr>
        <p:spPr>
          <a:xfrm>
            <a:off x="4434840" y="4206240"/>
            <a:ext cx="3429000" cy="2011680"/>
          </a:xfrm>
          <a:prstGeom prst="roundRect">
            <a:avLst>
              <a:gd name="adj" fmla="val 5455"/>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5" name="Shape 19"/>
          <p:cNvSpPr/>
          <p:nvPr/>
        </p:nvSpPr>
        <p:spPr>
          <a:xfrm>
            <a:off x="4663440" y="4434840"/>
            <a:ext cx="548640" cy="548640"/>
          </a:xfrm>
          <a:prstGeom prst="ellipse">
            <a:avLst/>
          </a:prstGeom>
          <a:solidFill>
            <a:srgbClr val="6366F1"/>
          </a:solidFill>
          <a:ln w="12700">
            <a:solidFill>
              <a:srgbClr val="6366F1"/>
            </a:solidFill>
            <a:prstDash val="solid"/>
          </a:ln>
        </p:spPr>
      </p:sp>
      <p:pic>
        <p:nvPicPr>
          <p:cNvPr id="26" name="Image 4" descr="preencoded.png">    </p:cNvPr>
          <p:cNvPicPr>
            <a:picLocks noChangeAspect="1"/>
          </p:cNvPicPr>
          <p:nvPr/>
        </p:nvPicPr>
        <p:blipFill>
          <a:blip r:embed="rId5"/>
          <a:stretch>
            <a:fillRect/>
          </a:stretch>
        </p:blipFill>
        <p:spPr>
          <a:xfrm>
            <a:off x="4800600" y="4572000"/>
            <a:ext cx="274320" cy="274320"/>
          </a:xfrm>
          <a:prstGeom prst="rect">
            <a:avLst/>
          </a:prstGeom>
        </p:spPr>
      </p:pic>
      <p:sp>
        <p:nvSpPr>
          <p:cNvPr id="27" name="Text 20"/>
          <p:cNvSpPr txBox="1"/>
          <p:nvPr/>
        </p:nvSpPr>
        <p:spPr>
          <a:xfrm>
            <a:off x="5349240" y="4462272"/>
            <a:ext cx="233172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Recommendations</a:t>
            </a:r>
            <a:endParaRPr lang="en-US" sz="1700" dirty="0"/>
          </a:p>
        </p:txBody>
      </p:sp>
      <p:sp>
        <p:nvSpPr>
          <p:cNvPr id="28" name="Text 21"/>
          <p:cNvSpPr txBox="1"/>
          <p:nvPr/>
        </p:nvSpPr>
        <p:spPr>
          <a:xfrm>
            <a:off x="4663440" y="5102352"/>
            <a:ext cx="2971800" cy="10515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Gemini sees an aggregated, data-joined table and returns structured projects with evidence.</a:t>
            </a:r>
            <a:endParaRPr lang="en-US" sz="1350" dirty="0"/>
          </a:p>
        </p:txBody>
      </p:sp>
      <p:sp>
        <p:nvSpPr>
          <p:cNvPr id="29" name="Shape 22"/>
          <p:cNvSpPr/>
          <p:nvPr/>
        </p:nvSpPr>
        <p:spPr>
          <a:xfrm>
            <a:off x="8229600" y="4206240"/>
            <a:ext cx="3429000" cy="2011680"/>
          </a:xfrm>
          <a:prstGeom prst="roundRect">
            <a:avLst>
              <a:gd name="adj" fmla="val 5455"/>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30" name="Shape 23"/>
          <p:cNvSpPr/>
          <p:nvPr/>
        </p:nvSpPr>
        <p:spPr>
          <a:xfrm>
            <a:off x="8458200" y="4434840"/>
            <a:ext cx="548640" cy="548640"/>
          </a:xfrm>
          <a:prstGeom prst="ellipse">
            <a:avLst/>
          </a:prstGeom>
          <a:solidFill>
            <a:srgbClr val="F59E0B"/>
          </a:solidFill>
          <a:ln w="12700">
            <a:solidFill>
              <a:srgbClr val="F59E0B"/>
            </a:solidFill>
            <a:prstDash val="solid"/>
          </a:ln>
        </p:spPr>
      </p:sp>
      <p:pic>
        <p:nvPicPr>
          <p:cNvPr id="31" name="Image 5" descr="preencoded.png">    </p:cNvPr>
          <p:cNvPicPr>
            <a:picLocks noChangeAspect="1"/>
          </p:cNvPicPr>
          <p:nvPr/>
        </p:nvPicPr>
        <p:blipFill>
          <a:blip r:embed="rId6"/>
          <a:stretch>
            <a:fillRect/>
          </a:stretch>
        </p:blipFill>
        <p:spPr>
          <a:xfrm>
            <a:off x="8595360" y="4572000"/>
            <a:ext cx="274320" cy="274320"/>
          </a:xfrm>
          <a:prstGeom prst="rect">
            <a:avLst/>
          </a:prstGeom>
        </p:spPr>
      </p:pic>
      <p:sp>
        <p:nvSpPr>
          <p:cNvPr id="32" name="Text 24"/>
          <p:cNvSpPr txBox="1"/>
          <p:nvPr/>
        </p:nvSpPr>
        <p:spPr>
          <a:xfrm>
            <a:off x="9144000" y="4462272"/>
            <a:ext cx="233172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Guardrails</a:t>
            </a:r>
            <a:endParaRPr lang="en-US" sz="1700" dirty="0"/>
          </a:p>
        </p:txBody>
      </p:sp>
      <p:sp>
        <p:nvSpPr>
          <p:cNvPr id="33" name="Text 25"/>
          <p:cNvSpPr txBox="1"/>
          <p:nvPr/>
        </p:nvSpPr>
        <p:spPr>
          <a:xfrm>
            <a:off x="8458200" y="5102352"/>
            <a:ext cx="2971800" cy="10515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PII redacted first. Figures anchored to data. 'Insufficient data' allowed. Rule-based fallback is labelled.</a:t>
            </a:r>
            <a:endParaRPr lang="en-US" sz="1350" dirty="0"/>
          </a:p>
        </p:txBody>
      </p:sp>
      <p:pic>
        <p:nvPicPr>
          <p:cNvPr id="34" name="Image 6" descr="/tmp/deck/mark.png">    </p:cNvPr>
          <p:cNvPicPr>
            <a:picLocks noChangeAspect="1"/>
          </p:cNvPicPr>
          <p:nvPr/>
        </p:nvPicPr>
        <p:blipFill>
          <a:blip r:embed="rId7"/>
          <a:stretch>
            <a:fillRect/>
          </a:stretch>
        </p:blipFill>
        <p:spPr>
          <a:xfrm>
            <a:off x="640080" y="6355080"/>
            <a:ext cx="237744" cy="246888"/>
          </a:xfrm>
          <a:prstGeom prst="rect">
            <a:avLst/>
          </a:prstGeom>
        </p:spPr>
      </p:pic>
      <p:sp>
        <p:nvSpPr>
          <p:cNvPr id="35" name="Text 26"/>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NagarVaani</a:t>
            </a:r>
            <a:endParaRPr lang="en-US" sz="1100" dirty="0"/>
          </a:p>
        </p:txBody>
      </p:sp>
      <p:sp>
        <p:nvSpPr>
          <p:cNvPr id="36" name="Text 27"/>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0F172A"/>
                </a:solidFill>
                <a:latin typeface="Calibri" pitchFamily="34" charset="0"/>
                <a:ea typeface="Calibri" pitchFamily="34" charset="-122"/>
                <a:cs typeface="Calibri" pitchFamily="34" charset="-120"/>
              </a:rPr>
              <a:t>Grounded in national data, with provenance</a:t>
            </a:r>
            <a:endParaRPr lang="en-US" sz="3800" dirty="0"/>
          </a:p>
        </p:txBody>
      </p:sp>
      <p:sp>
        <p:nvSpPr>
          <p:cNvPr id="3" name="Text 1"/>
          <p:cNvSpPr txBox="1"/>
          <p:nvPr/>
        </p:nvSpPr>
        <p:spPr>
          <a:xfrm>
            <a:off x="640080" y="1261872"/>
            <a:ext cx="10911535" cy="411480"/>
          </a:xfrm>
          <a:prstGeom prst="rect">
            <a:avLst/>
          </a:prstGeom>
          <a:noFill/>
          <a:ln/>
        </p:spPr>
        <p:txBody>
          <a:bodyPr wrap="square" lIns="0" tIns="0" rIns="0" bIns="0" rtlCol="0" anchor="t"/>
          <a:lstStyle/>
          <a:p>
            <a:pPr indent="0" marL="0">
              <a:buNone/>
            </a:pPr>
            <a:r>
              <a:rPr lang="en-US" sz="1600" dirty="0">
                <a:solidFill>
                  <a:srgbClr val="64748B"/>
                </a:solidFill>
                <a:latin typeface="Calibri" pitchFamily="34" charset="0"/>
                <a:ea typeface="Calibri" pitchFamily="34" charset="-122"/>
                <a:cs typeface="Calibri" pitchFamily="34" charset="-120"/>
              </a:rPr>
              <a:t>Complaints are joined to district context so priorities reflect need</a:t>
            </a:r>
            <a:endParaRPr lang="en-US" sz="1600" dirty="0"/>
          </a:p>
        </p:txBody>
      </p:sp>
      <p:sp>
        <p:nvSpPr>
          <p:cNvPr id="4" name="Shape 2"/>
          <p:cNvSpPr/>
          <p:nvPr/>
        </p:nvSpPr>
        <p:spPr>
          <a:xfrm>
            <a:off x="640080" y="1874520"/>
            <a:ext cx="3383280" cy="1554480"/>
          </a:xfrm>
          <a:prstGeom prst="roundRect">
            <a:avLst>
              <a:gd name="adj" fmla="val 7059"/>
            </a:avLst>
          </a:prstGeom>
          <a:solidFill>
            <a:srgbClr val="EEF2FF"/>
          </a:solidFill>
          <a:ln w="9525">
            <a:solidFill>
              <a:srgbClr val="EEF2FF"/>
            </a:solidFill>
            <a:prstDash val="solid"/>
          </a:ln>
          <a:effectLst>
            <a:outerShdw sx="100000" sy="100000" kx="0" ky="0" algn="bl" rotWithShape="0" blurRad="101600" dist="25400" dir="5400000">
              <a:srgbClr val="000000">
                <a:alpha val="8000"/>
              </a:srgbClr>
            </a:outerShdw>
          </a:effectLst>
        </p:spPr>
      </p:sp>
      <p:sp>
        <p:nvSpPr>
          <p:cNvPr id="5" name="Text 3"/>
          <p:cNvSpPr txBox="1"/>
          <p:nvPr/>
        </p:nvSpPr>
        <p:spPr>
          <a:xfrm>
            <a:off x="914400" y="1965960"/>
            <a:ext cx="1463040" cy="1371600"/>
          </a:xfrm>
          <a:prstGeom prst="rect">
            <a:avLst/>
          </a:prstGeom>
          <a:noFill/>
          <a:ln/>
        </p:spPr>
        <p:txBody>
          <a:bodyPr wrap="square" lIns="0" tIns="0" rIns="0" bIns="0" rtlCol="0" anchor="ctr"/>
          <a:lstStyle/>
          <a:p>
            <a:pPr indent="0" marL="0">
              <a:buNone/>
            </a:pPr>
            <a:r>
              <a:rPr lang="en-US" sz="6000" b="1" dirty="0">
                <a:solidFill>
                  <a:srgbClr val="6366F1"/>
                </a:solidFill>
                <a:latin typeface="Calibri" pitchFamily="34" charset="0"/>
                <a:ea typeface="Calibri" pitchFamily="34" charset="-122"/>
                <a:cs typeface="Calibri" pitchFamily="34" charset="-120"/>
              </a:rPr>
              <a:t>58</a:t>
            </a:r>
            <a:endParaRPr lang="en-US" sz="6000" dirty="0"/>
          </a:p>
        </p:txBody>
      </p:sp>
      <p:sp>
        <p:nvSpPr>
          <p:cNvPr id="6" name="Text 4"/>
          <p:cNvSpPr txBox="1"/>
          <p:nvPr/>
        </p:nvSpPr>
        <p:spPr>
          <a:xfrm>
            <a:off x="2377440" y="1965960"/>
            <a:ext cx="1508760" cy="137160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districts in the data layer</a:t>
            </a:r>
            <a:endParaRPr lang="en-US" sz="1400" dirty="0"/>
          </a:p>
        </p:txBody>
      </p:sp>
      <p:sp>
        <p:nvSpPr>
          <p:cNvPr id="7" name="Shape 5"/>
          <p:cNvSpPr/>
          <p:nvPr/>
        </p:nvSpPr>
        <p:spPr>
          <a:xfrm>
            <a:off x="4206240" y="1874520"/>
            <a:ext cx="3383280" cy="1554480"/>
          </a:xfrm>
          <a:prstGeom prst="roundRect">
            <a:avLst>
              <a:gd name="adj" fmla="val 7059"/>
            </a:avLst>
          </a:prstGeom>
          <a:solidFill>
            <a:srgbClr val="EEF2FF"/>
          </a:solidFill>
          <a:ln w="9525">
            <a:solidFill>
              <a:srgbClr val="EEF2FF"/>
            </a:solidFill>
            <a:prstDash val="solid"/>
          </a:ln>
          <a:effectLst>
            <a:outerShdw sx="100000" sy="100000" kx="0" ky="0" algn="bl" rotWithShape="0" blurRad="101600" dist="25400" dir="5400000">
              <a:srgbClr val="000000">
                <a:alpha val="8000"/>
              </a:srgbClr>
            </a:outerShdw>
          </a:effectLst>
        </p:spPr>
      </p:sp>
      <p:sp>
        <p:nvSpPr>
          <p:cNvPr id="8" name="Text 6"/>
          <p:cNvSpPr txBox="1"/>
          <p:nvPr/>
        </p:nvSpPr>
        <p:spPr>
          <a:xfrm>
            <a:off x="4480560" y="1965960"/>
            <a:ext cx="1463040" cy="1371600"/>
          </a:xfrm>
          <a:prstGeom prst="rect">
            <a:avLst/>
          </a:prstGeom>
          <a:noFill/>
          <a:ln/>
        </p:spPr>
        <p:txBody>
          <a:bodyPr wrap="square" lIns="0" tIns="0" rIns="0" bIns="0" rtlCol="0" anchor="ctr"/>
          <a:lstStyle/>
          <a:p>
            <a:pPr indent="0" marL="0">
              <a:buNone/>
            </a:pPr>
            <a:r>
              <a:rPr lang="en-US" sz="6000" b="1" dirty="0">
                <a:solidFill>
                  <a:srgbClr val="6366F1"/>
                </a:solidFill>
                <a:latin typeface="Calibri" pitchFamily="34" charset="0"/>
                <a:ea typeface="Calibri" pitchFamily="34" charset="-122"/>
                <a:cs typeface="Calibri" pitchFamily="34" charset="-120"/>
              </a:rPr>
              <a:t>30</a:t>
            </a:r>
            <a:endParaRPr lang="en-US" sz="6000" dirty="0"/>
          </a:p>
        </p:txBody>
      </p:sp>
      <p:sp>
        <p:nvSpPr>
          <p:cNvPr id="9" name="Text 7"/>
          <p:cNvSpPr txBox="1"/>
          <p:nvPr/>
        </p:nvSpPr>
        <p:spPr>
          <a:xfrm>
            <a:off x="5943600" y="1965960"/>
            <a:ext cx="1508760" cy="137160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with NFHS-5 household indicators</a:t>
            </a:r>
            <a:endParaRPr lang="en-US" sz="1400" dirty="0"/>
          </a:p>
        </p:txBody>
      </p:sp>
      <p:sp>
        <p:nvSpPr>
          <p:cNvPr id="10" name="Shape 8"/>
          <p:cNvSpPr/>
          <p:nvPr/>
        </p:nvSpPr>
        <p:spPr>
          <a:xfrm>
            <a:off x="7772400" y="1874520"/>
            <a:ext cx="3383280" cy="1554480"/>
          </a:xfrm>
          <a:prstGeom prst="roundRect">
            <a:avLst>
              <a:gd name="adj" fmla="val 7059"/>
            </a:avLst>
          </a:prstGeom>
          <a:solidFill>
            <a:srgbClr val="EEF2FF"/>
          </a:solidFill>
          <a:ln w="9525">
            <a:solidFill>
              <a:srgbClr val="EEF2FF"/>
            </a:solidFill>
            <a:prstDash val="solid"/>
          </a:ln>
          <a:effectLst>
            <a:outerShdw sx="100000" sy="100000" kx="0" ky="0" algn="bl" rotWithShape="0" blurRad="101600" dist="25400" dir="5400000">
              <a:srgbClr val="000000">
                <a:alpha val="8000"/>
              </a:srgbClr>
            </a:outerShdw>
          </a:effectLst>
        </p:spPr>
      </p:sp>
      <p:sp>
        <p:nvSpPr>
          <p:cNvPr id="11" name="Text 9"/>
          <p:cNvSpPr txBox="1"/>
          <p:nvPr/>
        </p:nvSpPr>
        <p:spPr>
          <a:xfrm>
            <a:off x="8046720" y="1965960"/>
            <a:ext cx="1463040" cy="1371600"/>
          </a:xfrm>
          <a:prstGeom prst="rect">
            <a:avLst/>
          </a:prstGeom>
          <a:noFill/>
          <a:ln/>
        </p:spPr>
        <p:txBody>
          <a:bodyPr wrap="square" lIns="0" tIns="0" rIns="0" bIns="0" rtlCol="0" anchor="ctr"/>
          <a:lstStyle/>
          <a:p>
            <a:pPr indent="0" marL="0">
              <a:buNone/>
            </a:pPr>
            <a:r>
              <a:rPr lang="en-US" sz="6000" b="1" dirty="0">
                <a:solidFill>
                  <a:srgbClr val="6366F1"/>
                </a:solidFill>
                <a:latin typeface="Calibri" pitchFamily="34" charset="0"/>
                <a:ea typeface="Calibri" pitchFamily="34" charset="-122"/>
                <a:cs typeface="Calibri" pitchFamily="34" charset="-120"/>
              </a:rPr>
              <a:t>3</a:t>
            </a:r>
            <a:endParaRPr lang="en-US" sz="6000" dirty="0"/>
          </a:p>
        </p:txBody>
      </p:sp>
      <p:sp>
        <p:nvSpPr>
          <p:cNvPr id="12" name="Text 10"/>
          <p:cNvSpPr txBox="1"/>
          <p:nvPr/>
        </p:nvSpPr>
        <p:spPr>
          <a:xfrm>
            <a:off x="9509760" y="1965960"/>
            <a:ext cx="1508760" cy="137160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official data sources</a:t>
            </a:r>
            <a:endParaRPr lang="en-US" sz="1400" dirty="0"/>
          </a:p>
        </p:txBody>
      </p:sp>
      <p:sp>
        <p:nvSpPr>
          <p:cNvPr id="13" name="Shape 11"/>
          <p:cNvSpPr/>
          <p:nvPr/>
        </p:nvSpPr>
        <p:spPr>
          <a:xfrm>
            <a:off x="640080" y="3749040"/>
            <a:ext cx="502920" cy="502920"/>
          </a:xfrm>
          <a:prstGeom prst="ellipse">
            <a:avLst/>
          </a:prstGeom>
          <a:solidFill>
            <a:srgbClr val="6366F1"/>
          </a:solidFill>
          <a:ln w="12700">
            <a:solidFill>
              <a:srgbClr val="6366F1"/>
            </a:solidFill>
            <a:prstDash val="solid"/>
          </a:ln>
        </p:spPr>
      </p:sp>
      <p:pic>
        <p:nvPicPr>
          <p:cNvPr id="14" name="Image 0" descr="preencoded.png">    </p:cNvPr>
          <p:cNvPicPr>
            <a:picLocks noChangeAspect="1"/>
          </p:cNvPicPr>
          <p:nvPr/>
        </p:nvPicPr>
        <p:blipFill>
          <a:blip r:embed="rId1"/>
          <a:stretch>
            <a:fillRect/>
          </a:stretch>
        </p:blipFill>
        <p:spPr>
          <a:xfrm>
            <a:off x="765810" y="3874770"/>
            <a:ext cx="251460" cy="251460"/>
          </a:xfrm>
          <a:prstGeom prst="rect">
            <a:avLst/>
          </a:prstGeom>
        </p:spPr>
      </p:pic>
      <p:sp>
        <p:nvSpPr>
          <p:cNvPr id="15" name="Text 12"/>
          <p:cNvSpPr txBox="1"/>
          <p:nvPr/>
        </p:nvSpPr>
        <p:spPr>
          <a:xfrm>
            <a:off x="1325880" y="3730752"/>
            <a:ext cx="310896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Census of India 2011</a:t>
            </a:r>
            <a:endParaRPr lang="en-US" sz="1500" dirty="0"/>
          </a:p>
        </p:txBody>
      </p:sp>
      <p:sp>
        <p:nvSpPr>
          <p:cNvPr id="16" name="Text 13"/>
          <p:cNvSpPr txBox="1"/>
          <p:nvPr/>
        </p:nvSpPr>
        <p:spPr>
          <a:xfrm>
            <a:off x="1325880" y="4005072"/>
            <a:ext cx="3566160" cy="3200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District population and literacy rate.</a:t>
            </a:r>
            <a:endParaRPr lang="en-US" sz="1200" dirty="0"/>
          </a:p>
        </p:txBody>
      </p:sp>
      <p:sp>
        <p:nvSpPr>
          <p:cNvPr id="17" name="Shape 14"/>
          <p:cNvSpPr/>
          <p:nvPr/>
        </p:nvSpPr>
        <p:spPr>
          <a:xfrm>
            <a:off x="640080" y="4617720"/>
            <a:ext cx="502920" cy="502920"/>
          </a:xfrm>
          <a:prstGeom prst="ellipse">
            <a:avLst/>
          </a:prstGeom>
          <a:solidFill>
            <a:srgbClr val="6366F1"/>
          </a:solidFill>
          <a:ln w="12700">
            <a:solidFill>
              <a:srgbClr val="6366F1"/>
            </a:solidFill>
            <a:prstDash val="solid"/>
          </a:ln>
        </p:spPr>
      </p:sp>
      <p:pic>
        <p:nvPicPr>
          <p:cNvPr id="18" name="Image 1" descr="preencoded.png">    </p:cNvPr>
          <p:cNvPicPr>
            <a:picLocks noChangeAspect="1"/>
          </p:cNvPicPr>
          <p:nvPr/>
        </p:nvPicPr>
        <p:blipFill>
          <a:blip r:embed="rId2"/>
          <a:stretch>
            <a:fillRect/>
          </a:stretch>
        </p:blipFill>
        <p:spPr>
          <a:xfrm>
            <a:off x="765810" y="4743450"/>
            <a:ext cx="251460" cy="251460"/>
          </a:xfrm>
          <a:prstGeom prst="rect">
            <a:avLst/>
          </a:prstGeom>
        </p:spPr>
      </p:pic>
      <p:sp>
        <p:nvSpPr>
          <p:cNvPr id="19" name="Text 15"/>
          <p:cNvSpPr txBox="1"/>
          <p:nvPr/>
        </p:nvSpPr>
        <p:spPr>
          <a:xfrm>
            <a:off x="1325880" y="4599432"/>
            <a:ext cx="310896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NITI Aayog</a:t>
            </a:r>
            <a:endParaRPr lang="en-US" sz="1500" dirty="0"/>
          </a:p>
        </p:txBody>
      </p:sp>
      <p:sp>
        <p:nvSpPr>
          <p:cNvPr id="20" name="Text 16"/>
          <p:cNvSpPr txBox="1"/>
          <p:nvPr/>
        </p:nvSpPr>
        <p:spPr>
          <a:xfrm>
            <a:off x="1325880" y="4873752"/>
            <a:ext cx="3566160" cy="3200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Aspirational-district flag for under-served districts.</a:t>
            </a:r>
            <a:endParaRPr lang="en-US" sz="1200" dirty="0"/>
          </a:p>
        </p:txBody>
      </p:sp>
      <p:sp>
        <p:nvSpPr>
          <p:cNvPr id="21" name="Shape 17"/>
          <p:cNvSpPr/>
          <p:nvPr/>
        </p:nvSpPr>
        <p:spPr>
          <a:xfrm>
            <a:off x="640080" y="5486400"/>
            <a:ext cx="502920" cy="502920"/>
          </a:xfrm>
          <a:prstGeom prst="ellipse">
            <a:avLst/>
          </a:prstGeom>
          <a:solidFill>
            <a:srgbClr val="6366F1"/>
          </a:solidFill>
          <a:ln w="12700">
            <a:solidFill>
              <a:srgbClr val="6366F1"/>
            </a:solidFill>
            <a:prstDash val="solid"/>
          </a:ln>
        </p:spPr>
      </p:sp>
      <p:pic>
        <p:nvPicPr>
          <p:cNvPr id="22" name="Image 2" descr="preencoded.png">    </p:cNvPr>
          <p:cNvPicPr>
            <a:picLocks noChangeAspect="1"/>
          </p:cNvPicPr>
          <p:nvPr/>
        </p:nvPicPr>
        <p:blipFill>
          <a:blip r:embed="rId3"/>
          <a:stretch>
            <a:fillRect/>
          </a:stretch>
        </p:blipFill>
        <p:spPr>
          <a:xfrm>
            <a:off x="765810" y="5612130"/>
            <a:ext cx="251460" cy="251460"/>
          </a:xfrm>
          <a:prstGeom prst="rect">
            <a:avLst/>
          </a:prstGeom>
        </p:spPr>
      </p:pic>
      <p:sp>
        <p:nvSpPr>
          <p:cNvPr id="23" name="Text 18"/>
          <p:cNvSpPr txBox="1"/>
          <p:nvPr/>
        </p:nvSpPr>
        <p:spPr>
          <a:xfrm>
            <a:off x="1325880" y="5468112"/>
            <a:ext cx="310896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NFHS-5 (2019-21)</a:t>
            </a:r>
            <a:endParaRPr lang="en-US" sz="1500" dirty="0"/>
          </a:p>
        </p:txBody>
      </p:sp>
      <p:sp>
        <p:nvSpPr>
          <p:cNvPr id="24" name="Text 19"/>
          <p:cNvSpPr txBox="1"/>
          <p:nvPr/>
        </p:nvSpPr>
        <p:spPr>
          <a:xfrm>
            <a:off x="1325880" y="5742432"/>
            <a:ext cx="3566160" cy="3200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Household electricity, improved water and improved sanitation.</a:t>
            </a:r>
            <a:endParaRPr lang="en-US" sz="1200" dirty="0"/>
          </a:p>
        </p:txBody>
      </p:sp>
      <p:sp>
        <p:nvSpPr>
          <p:cNvPr id="25" name="Shape 20"/>
          <p:cNvSpPr/>
          <p:nvPr/>
        </p:nvSpPr>
        <p:spPr>
          <a:xfrm>
            <a:off x="5669280" y="3703320"/>
            <a:ext cx="5852160" cy="2331720"/>
          </a:xfrm>
          <a:prstGeom prst="roundRect">
            <a:avLst>
              <a:gd name="adj" fmla="val 4706"/>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6" name="Text 21"/>
          <p:cNvSpPr txBox="1"/>
          <p:nvPr/>
        </p:nvSpPr>
        <p:spPr>
          <a:xfrm>
            <a:off x="5943600" y="3840480"/>
            <a:ext cx="5303520"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Honest by design</a:t>
            </a:r>
            <a:endParaRPr lang="en-US" sz="1800" dirty="0"/>
          </a:p>
        </p:txBody>
      </p:sp>
      <p:sp>
        <p:nvSpPr>
          <p:cNvPr id="27" name="Text 22"/>
          <p:cNvSpPr txBox="1"/>
          <p:nvPr/>
        </p:nvSpPr>
        <p:spPr>
          <a:xfrm>
            <a:off x="5943600" y="4297680"/>
            <a:ext cx="530352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64748B"/>
                </a:solidFill>
                <a:latin typeface="Calibri" pitchFamily="34" charset="0"/>
                <a:ea typeface="Calibri" pitchFamily="34" charset="-122"/>
                <a:cs typeface="Calibri" pitchFamily="34" charset="-120"/>
              </a:rPr>
              <a:t>Sources, licences and retrieval dates are documented in data/SOURCES.md</a:t>
            </a:r>
            <a:endParaRPr lang="en-US" sz="1300" dirty="0"/>
          </a:p>
          <a:p>
            <a:pPr marL="342900" indent="-342900">
              <a:spcAft>
                <a:spcPts val="600"/>
              </a:spcAft>
              <a:buSzPct val="100000"/>
              <a:buChar char="•"/>
            </a:pPr>
            <a:r>
              <a:rPr lang="en-US" sz="1300" dirty="0">
                <a:solidFill>
                  <a:srgbClr val="64748B"/>
                </a:solidFill>
                <a:latin typeface="Calibri" pitchFamily="34" charset="0"/>
                <a:ea typeface="Calibri" pitchFamily="34" charset="-122"/>
                <a:cs typeface="Calibri" pitchFamily="34" charset="-120"/>
              </a:rPr>
              <a:t>Missing values stay empty. Nothing is estimated or filled in.</a:t>
            </a:r>
            <a:endParaRPr lang="en-US" sz="1300" dirty="0"/>
          </a:p>
          <a:p>
            <a:pPr marL="342900" indent="-342900">
              <a:spcAft>
                <a:spcPts val="600"/>
              </a:spcAft>
              <a:buSzPct val="100000"/>
              <a:buChar char="•"/>
            </a:pPr>
            <a:r>
              <a:rPr lang="en-US" sz="1300" dirty="0">
                <a:solidFill>
                  <a:srgbClr val="64748B"/>
                </a:solidFill>
                <a:latin typeface="Calibri" pitchFamily="34" charset="0"/>
                <a:ea typeface="Calibri" pitchFamily="34" charset="-122"/>
                <a:cs typeface="Calibri" pitchFamily="34" charset="-120"/>
              </a:rPr>
              <a:t>NFHS-5 covers 30 of 58 districts so far; road connectivity is not loaded yet.</a:t>
            </a:r>
            <a:endParaRPr lang="en-US" sz="1300" dirty="0"/>
          </a:p>
          <a:p>
            <a:pPr marL="342900" indent="-342900">
              <a:spcAft>
                <a:spcPts val="600"/>
              </a:spcAft>
              <a:buSzPct val="100000"/>
              <a:buChar char="•"/>
            </a:pPr>
            <a:r>
              <a:rPr lang="en-US" sz="1300" dirty="0">
                <a:solidFill>
                  <a:srgbClr val="64748B"/>
                </a:solidFill>
                <a:latin typeface="Calibri" pitchFamily="34" charset="0"/>
                <a:ea typeface="Calibri" pitchFamily="34" charset="-122"/>
                <a:cs typeface="Calibri" pitchFamily="34" charset="-120"/>
              </a:rPr>
              <a:t>Demo complaints are synthetic and labelled in the UI.</a:t>
            </a:r>
            <a:endParaRPr lang="en-US" sz="1300" dirty="0"/>
          </a:p>
        </p:txBody>
      </p:sp>
      <p:pic>
        <p:nvPicPr>
          <p:cNvPr id="28" name="Image 3" descr="/tmp/deck/mark.png">    </p:cNvPr>
          <p:cNvPicPr>
            <a:picLocks noChangeAspect="1"/>
          </p:cNvPicPr>
          <p:nvPr/>
        </p:nvPicPr>
        <p:blipFill>
          <a:blip r:embed="rId4"/>
          <a:stretch>
            <a:fillRect/>
          </a:stretch>
        </p:blipFill>
        <p:spPr>
          <a:xfrm>
            <a:off x="640080" y="6355080"/>
            <a:ext cx="237744" cy="246888"/>
          </a:xfrm>
          <a:prstGeom prst="rect">
            <a:avLst/>
          </a:prstGeom>
        </p:spPr>
      </p:pic>
      <p:sp>
        <p:nvSpPr>
          <p:cNvPr id="29" name="Text 23"/>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NagarVaani</a:t>
            </a:r>
            <a:endParaRPr lang="en-US" sz="1100" dirty="0"/>
          </a:p>
        </p:txBody>
      </p:sp>
      <p:sp>
        <p:nvSpPr>
          <p:cNvPr id="30" name="Text 24"/>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Need-weighted ranking re-orders priorities</a:t>
            </a:r>
            <a:endParaRPr lang="en-US" sz="3800" dirty="0"/>
          </a:p>
        </p:txBody>
      </p:sp>
      <p:sp>
        <p:nvSpPr>
          <p:cNvPr id="3" name="Text 1"/>
          <p:cNvSpPr txBox="1"/>
          <p:nvPr/>
        </p:nvSpPr>
        <p:spPr>
          <a:xfrm>
            <a:off x="640080" y="1261872"/>
            <a:ext cx="10911535" cy="411480"/>
          </a:xfrm>
          <a:prstGeom prst="rect">
            <a:avLst/>
          </a:prstGeom>
          <a:noFill/>
          <a:ln/>
        </p:spPr>
        <p:txBody>
          <a:bodyPr wrap="square" lIns="0" tIns="0" rIns="0" bIns="0" rtlCol="0" anchor="t"/>
          <a:lstStyle/>
          <a:p>
            <a:pPr indent="0" marL="0">
              <a:buNone/>
            </a:pPr>
            <a:r>
              <a:rPr lang="en-US" sz="1600" dirty="0">
                <a:solidFill>
                  <a:srgbClr val="A5B4FC"/>
                </a:solidFill>
                <a:latin typeface="Calibri" pitchFamily="34" charset="0"/>
                <a:ea typeface="Calibri" pitchFamily="34" charset="-122"/>
                <a:cs typeface="Calibri" pitchFamily="34" charset="-120"/>
              </a:rPr>
              <a:t>Live demo screen (synthetic complaints): need per head and deprivation, not raw volume</a:t>
            </a:r>
            <a:endParaRPr lang="en-US" sz="1600" dirty="0"/>
          </a:p>
        </p:txBody>
      </p:sp>
      <p:sp>
        <p:nvSpPr>
          <p:cNvPr id="4" name="Shape 2"/>
          <p:cNvSpPr/>
          <p:nvPr/>
        </p:nvSpPr>
        <p:spPr>
          <a:xfrm>
            <a:off x="640080" y="1783080"/>
            <a:ext cx="8138160" cy="3639312"/>
          </a:xfrm>
          <a:prstGeom prst="roundRect">
            <a:avLst>
              <a:gd name="adj" fmla="val 2010"/>
            </a:avLst>
          </a:prstGeom>
          <a:solidFill>
            <a:srgbClr val="0F0F1A"/>
          </a:solidFill>
          <a:ln w="9525">
            <a:solidFill>
              <a:srgbClr val="2A2A4A"/>
            </a:solidFill>
            <a:prstDash val="solid"/>
          </a:ln>
        </p:spPr>
      </p:sp>
      <p:pic>
        <p:nvPicPr>
          <p:cNvPr id="5" name="Image 0" descr="/tmp/deck/shots/priority.png">    </p:cNvPr>
          <p:cNvPicPr>
            <a:picLocks noChangeAspect="1"/>
          </p:cNvPicPr>
          <p:nvPr/>
        </p:nvPicPr>
        <p:blipFill>
          <a:blip r:embed="rId1"/>
          <a:stretch>
            <a:fillRect/>
          </a:stretch>
        </p:blipFill>
        <p:spPr>
          <a:xfrm>
            <a:off x="713232" y="1856232"/>
            <a:ext cx="7991856" cy="3439725"/>
          </a:xfrm>
          <a:prstGeom prst="rect">
            <a:avLst/>
          </a:prstGeom>
        </p:spPr>
      </p:pic>
      <p:sp>
        <p:nvSpPr>
          <p:cNvPr id="6" name="Shape 3"/>
          <p:cNvSpPr/>
          <p:nvPr/>
        </p:nvSpPr>
        <p:spPr>
          <a:xfrm>
            <a:off x="9052560" y="1783080"/>
            <a:ext cx="2514600" cy="2057400"/>
          </a:xfrm>
          <a:prstGeom prst="roundRect">
            <a:avLst>
              <a:gd name="adj" fmla="val 5333"/>
            </a:avLst>
          </a:prstGeom>
          <a:solidFill>
            <a:srgbClr val="14142A"/>
          </a:solidFill>
          <a:ln w="9525">
            <a:solidFill>
              <a:srgbClr val="2A2A4A"/>
            </a:solidFill>
            <a:prstDash val="solid"/>
          </a:ln>
          <a:effectLst>
            <a:outerShdw sx="100000" sy="100000" kx="0" ky="0" algn="bl" rotWithShape="0" blurRad="101600" dist="25400" dir="5400000">
              <a:srgbClr val="000000">
                <a:alpha val="8000"/>
              </a:srgbClr>
            </a:outerShdw>
          </a:effectLst>
        </p:spPr>
      </p:sp>
      <p:sp>
        <p:nvSpPr>
          <p:cNvPr id="7" name="Text 4"/>
          <p:cNvSpPr txBox="1"/>
          <p:nvPr/>
        </p:nvSpPr>
        <p:spPr>
          <a:xfrm>
            <a:off x="9235440" y="1874520"/>
            <a:ext cx="21945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Need-weighted score</a:t>
            </a:r>
            <a:endParaRPr lang="en-US" sz="1500" dirty="0"/>
          </a:p>
        </p:txBody>
      </p:sp>
      <p:sp>
        <p:nvSpPr>
          <p:cNvPr id="8" name="Text 5"/>
          <p:cNvSpPr txBox="1"/>
          <p:nvPr/>
        </p:nvSpPr>
        <p:spPr>
          <a:xfrm>
            <a:off x="9235440" y="2286000"/>
            <a:ext cx="2194560" cy="1188720"/>
          </a:xfrm>
          <a:prstGeom prst="rect">
            <a:avLst/>
          </a:prstGeom>
          <a:noFill/>
          <a:ln/>
        </p:spPr>
        <p:txBody>
          <a:bodyPr wrap="square" lIns="0" tIns="0" rIns="0" bIns="0" rtlCol="0" anchor="t"/>
          <a:lstStyle/>
          <a:p>
            <a:pPr indent="0" marL="0">
              <a:buNone/>
            </a:pPr>
            <a:r>
              <a:rPr lang="en-US" sz="1300" dirty="0">
                <a:solidFill>
                  <a:srgbClr val="A5B4FC"/>
                </a:solidFill>
                <a:latin typeface="Calibri" pitchFamily="34" charset="0"/>
                <a:ea typeface="Calibri" pitchFamily="34" charset="-122"/>
                <a:cs typeface="Calibri" pitchFamily="34" charset="-120"/>
              </a:rPr>
              <a:t>complaints per 100k</a:t>
            </a:r>
            <a:endParaRPr lang="en-US" sz="1300" dirty="0"/>
          </a:p>
          <a:p>
            <a:pPr indent="0" marL="0">
              <a:buNone/>
            </a:pPr>
            <a:r>
              <a:rPr lang="en-US" sz="1300" dirty="0">
                <a:solidFill>
                  <a:srgbClr val="A5B4FC"/>
                </a:solidFill>
                <a:latin typeface="Calibri" pitchFamily="34" charset="0"/>
                <a:ea typeface="Calibri" pitchFamily="34" charset="-122"/>
                <a:cs typeface="Calibri" pitchFamily="34" charset="-120"/>
              </a:rPr>
              <a:t>x mean urgency</a:t>
            </a:r>
            <a:endParaRPr lang="en-US" sz="1300" dirty="0"/>
          </a:p>
          <a:p>
            <a:pPr indent="0" marL="0">
              <a:buNone/>
            </a:pPr>
            <a:r>
              <a:rPr lang="en-US" sz="1300" dirty="0">
                <a:solidFill>
                  <a:srgbClr val="A5B4FC"/>
                </a:solidFill>
                <a:latin typeface="Calibri" pitchFamily="34" charset="0"/>
                <a:ea typeface="Calibri" pitchFamily="34" charset="-122"/>
                <a:cs typeface="Calibri" pitchFamily="34" charset="-120"/>
              </a:rPr>
              <a:t>x (1 + deprivation)</a:t>
            </a:r>
            <a:endParaRPr lang="en-US" sz="1300" dirty="0"/>
          </a:p>
          <a:p>
            <a:pPr indent="0" marL="0">
              <a:buNone/>
            </a:pPr>
            <a:r>
              <a:rPr lang="en-US" sz="1300" dirty="0">
                <a:solidFill>
                  <a:srgbClr val="A5B4FC"/>
                </a:solidFill>
                <a:latin typeface="Calibri" pitchFamily="34" charset="0"/>
                <a:ea typeface="Calibri" pitchFamily="34" charset="-122"/>
                <a:cs typeface="Calibri" pitchFamily="34" charset="-120"/>
              </a:rPr>
              <a:t>x unresolved-age</a:t>
            </a:r>
            <a:endParaRPr lang="en-US" sz="1300" dirty="0"/>
          </a:p>
        </p:txBody>
      </p:sp>
      <p:sp>
        <p:nvSpPr>
          <p:cNvPr id="9" name="Text 6"/>
          <p:cNvSpPr txBox="1"/>
          <p:nvPr/>
        </p:nvSpPr>
        <p:spPr>
          <a:xfrm>
            <a:off x="9235440" y="3429000"/>
            <a:ext cx="219456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Weights: lib/priority.ts</a:t>
            </a:r>
            <a:endParaRPr lang="en-US" sz="1000" dirty="0"/>
          </a:p>
        </p:txBody>
      </p:sp>
      <p:sp>
        <p:nvSpPr>
          <p:cNvPr id="10" name="Shape 7"/>
          <p:cNvSpPr/>
          <p:nvPr/>
        </p:nvSpPr>
        <p:spPr>
          <a:xfrm>
            <a:off x="9052560" y="4023360"/>
            <a:ext cx="2514600" cy="1399032"/>
          </a:xfrm>
          <a:prstGeom prst="roundRect">
            <a:avLst>
              <a:gd name="adj" fmla="val 7843"/>
            </a:avLst>
          </a:prstGeom>
          <a:solidFill>
            <a:srgbClr val="14142A"/>
          </a:solidFill>
          <a:ln w="9525">
            <a:solidFill>
              <a:srgbClr val="2A2A4A"/>
            </a:solidFill>
            <a:prstDash val="solid"/>
          </a:ln>
          <a:effectLst>
            <a:outerShdw sx="100000" sy="100000" kx="0" ky="0" algn="bl" rotWithShape="0" blurRad="101600" dist="25400" dir="5400000">
              <a:srgbClr val="000000">
                <a:alpha val="8000"/>
              </a:srgbClr>
            </a:outerShdw>
          </a:effectLst>
        </p:spPr>
      </p:sp>
      <p:sp>
        <p:nvSpPr>
          <p:cNvPr id="11" name="Text 8"/>
          <p:cNvSpPr txBox="1"/>
          <p:nvPr/>
        </p:nvSpPr>
        <p:spPr>
          <a:xfrm>
            <a:off x="9235440" y="4114800"/>
            <a:ext cx="2194560" cy="32004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Why it matters</a:t>
            </a:r>
            <a:endParaRPr lang="en-US" sz="1500" dirty="0"/>
          </a:p>
        </p:txBody>
      </p:sp>
      <p:sp>
        <p:nvSpPr>
          <p:cNvPr id="12" name="Text 9"/>
          <p:cNvSpPr txBox="1"/>
          <p:nvPr/>
        </p:nvSpPr>
        <p:spPr>
          <a:xfrm>
            <a:off x="9235440" y="4462272"/>
            <a:ext cx="2194560" cy="86868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Small, aspirational districts rise because need is measured per head.</a:t>
            </a:r>
            <a:endParaRPr lang="en-US" sz="1200" dirty="0"/>
          </a:p>
        </p:txBody>
      </p:sp>
      <p:sp>
        <p:nvSpPr>
          <p:cNvPr id="13" name="Text 10"/>
          <p:cNvSpPr txBox="1"/>
          <p:nvPr/>
        </p:nvSpPr>
        <p:spPr>
          <a:xfrm>
            <a:off x="640080" y="5577840"/>
            <a:ext cx="10881360" cy="640080"/>
          </a:xfrm>
          <a:prstGeom prst="rect">
            <a:avLst/>
          </a:prstGeom>
          <a:noFill/>
          <a:ln/>
        </p:spPr>
        <p:txBody>
          <a:bodyPr wrap="square" lIns="0" tIns="0" rIns="0" bIns="0" rtlCol="0" anchor="t"/>
          <a:lstStyle/>
          <a:p>
            <a:pPr indent="0" marL="0">
              <a:buNone/>
            </a:pPr>
            <a:r>
              <a:rPr lang="en-US" sz="1300" i="1" dirty="0">
                <a:solidFill>
                  <a:srgbClr val="A5B4FC"/>
                </a:solidFill>
                <a:latin typeface="Calibri" pitchFamily="34" charset="0"/>
                <a:ea typeface="Calibri" pitchFamily="34" charset="-122"/>
                <a:cs typeface="Calibri" pitchFamily="34" charset="-120"/>
              </a:rPr>
              <a:t>Honest note: in this demo every cluster has one complaint, so the raw rank is a tie-break. The re-ranking effect grows with real complaint volumes, which is what a pilot would measure.</a:t>
            </a:r>
            <a:endParaRPr lang="en-US" sz="1300" dirty="0"/>
          </a:p>
        </p:txBody>
      </p:sp>
      <p:pic>
        <p:nvPicPr>
          <p:cNvPr id="14" name="Image 1" descr="/tmp/deck/mark.png">    </p:cNvPr>
          <p:cNvPicPr>
            <a:picLocks noChangeAspect="1"/>
          </p:cNvPicPr>
          <p:nvPr/>
        </p:nvPicPr>
        <p:blipFill>
          <a:blip r:embed="rId2"/>
          <a:stretch>
            <a:fillRect/>
          </a:stretch>
        </p:blipFill>
        <p:spPr>
          <a:xfrm>
            <a:off x="640080" y="6355080"/>
            <a:ext cx="237744" cy="246888"/>
          </a:xfrm>
          <a:prstGeom prst="rect">
            <a:avLst/>
          </a:prstGeom>
        </p:spPr>
      </p:pic>
      <p:sp>
        <p:nvSpPr>
          <p:cNvPr id="15" name="Text 11"/>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A5B4FC"/>
                </a:solidFill>
                <a:latin typeface="Calibri" pitchFamily="34" charset="0"/>
                <a:ea typeface="Calibri" pitchFamily="34" charset="-122"/>
                <a:cs typeface="Calibri" pitchFamily="34" charset="-120"/>
              </a:rPr>
              <a:t>NagarVaani</a:t>
            </a:r>
            <a:endParaRPr lang="en-US" sz="1100" dirty="0"/>
          </a:p>
        </p:txBody>
      </p:sp>
      <p:sp>
        <p:nvSpPr>
          <p:cNvPr id="16" name="Text 12"/>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A5B4FC"/>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0F172A"/>
                </a:solidFill>
                <a:latin typeface="Calibri" pitchFamily="34" charset="0"/>
                <a:ea typeface="Calibri" pitchFamily="34" charset="-122"/>
                <a:cs typeface="Calibri" pitchFamily="34" charset="-120"/>
              </a:rPr>
              <a:t>Product tour</a:t>
            </a:r>
            <a:endParaRPr lang="en-US" sz="3800" dirty="0"/>
          </a:p>
        </p:txBody>
      </p:sp>
      <p:sp>
        <p:nvSpPr>
          <p:cNvPr id="3" name="Text 1"/>
          <p:cNvSpPr txBox="1"/>
          <p:nvPr/>
        </p:nvSpPr>
        <p:spPr>
          <a:xfrm>
            <a:off x="640080" y="1261872"/>
            <a:ext cx="10911535" cy="411480"/>
          </a:xfrm>
          <a:prstGeom prst="rect">
            <a:avLst/>
          </a:prstGeom>
          <a:noFill/>
          <a:ln/>
        </p:spPr>
        <p:txBody>
          <a:bodyPr wrap="square" lIns="0" tIns="0" rIns="0" bIns="0" rtlCol="0" anchor="t"/>
          <a:lstStyle/>
          <a:p>
            <a:pPr indent="0" marL="0">
              <a:buNone/>
            </a:pPr>
            <a:r>
              <a:rPr lang="en-US" sz="1600" dirty="0">
                <a:solidFill>
                  <a:srgbClr val="64748B"/>
                </a:solidFill>
                <a:latin typeface="Calibri" pitchFamily="34" charset="0"/>
                <a:ea typeface="Calibri" pitchFamily="34" charset="-122"/>
                <a:cs typeface="Calibri" pitchFamily="34" charset="-120"/>
              </a:rPr>
              <a:t>Citizen side on a phone, policymaker side on the dashboard</a:t>
            </a:r>
            <a:endParaRPr lang="en-US" sz="1600" dirty="0"/>
          </a:p>
        </p:txBody>
      </p:sp>
      <p:sp>
        <p:nvSpPr>
          <p:cNvPr id="4" name="Shape 2"/>
          <p:cNvSpPr/>
          <p:nvPr/>
        </p:nvSpPr>
        <p:spPr>
          <a:xfrm>
            <a:off x="640080" y="1783080"/>
            <a:ext cx="2270821" cy="3675888"/>
          </a:xfrm>
          <a:prstGeom prst="roundRect">
            <a:avLst>
              <a:gd name="adj" fmla="val 4027"/>
            </a:avLst>
          </a:prstGeom>
          <a:solidFill>
            <a:srgbClr val="0F0F1A"/>
          </a:solidFill>
          <a:ln w="9525">
            <a:solidFill>
              <a:srgbClr val="E2E8F0"/>
            </a:solidFill>
            <a:prstDash val="solid"/>
          </a:ln>
          <a:effectLst>
            <a:outerShdw sx="100000" sy="100000" kx="0" ky="0" algn="bl" rotWithShape="0" blurRad="101600" dist="25400" dir="5400000">
              <a:srgbClr val="000000">
                <a:alpha val="12000"/>
              </a:srgbClr>
            </a:outerShdw>
          </a:effectLst>
        </p:spPr>
      </p:sp>
      <p:pic>
        <p:nvPicPr>
          <p:cNvPr id="5" name="Image 0" descr="/tmp/deck/shots/form.png">    </p:cNvPr>
          <p:cNvPicPr>
            <a:picLocks noChangeAspect="1"/>
          </p:cNvPicPr>
          <p:nvPr/>
        </p:nvPicPr>
        <p:blipFill>
          <a:blip r:embed="rId1"/>
          <a:stretch>
            <a:fillRect/>
          </a:stretch>
        </p:blipFill>
        <p:spPr>
          <a:xfrm>
            <a:off x="694944" y="1837944"/>
            <a:ext cx="2161093" cy="3566160"/>
          </a:xfrm>
          <a:prstGeom prst="rect">
            <a:avLst/>
          </a:prstGeom>
        </p:spPr>
      </p:pic>
      <p:sp>
        <p:nvSpPr>
          <p:cNvPr id="6" name="Shape 3"/>
          <p:cNvSpPr/>
          <p:nvPr/>
        </p:nvSpPr>
        <p:spPr>
          <a:xfrm>
            <a:off x="3166933" y="1783080"/>
            <a:ext cx="2270821" cy="3675888"/>
          </a:xfrm>
          <a:prstGeom prst="roundRect">
            <a:avLst>
              <a:gd name="adj" fmla="val 4027"/>
            </a:avLst>
          </a:prstGeom>
          <a:solidFill>
            <a:srgbClr val="0F0F1A"/>
          </a:solidFill>
          <a:ln w="9525">
            <a:solidFill>
              <a:srgbClr val="E2E8F0"/>
            </a:solidFill>
            <a:prstDash val="solid"/>
          </a:ln>
          <a:effectLst>
            <a:outerShdw sx="100000" sy="100000" kx="0" ky="0" algn="bl" rotWithShape="0" blurRad="101600" dist="25400" dir="5400000">
              <a:srgbClr val="000000">
                <a:alpha val="12000"/>
              </a:srgbClr>
            </a:outerShdw>
          </a:effectLst>
        </p:spPr>
      </p:sp>
      <p:pic>
        <p:nvPicPr>
          <p:cNvPr id="7" name="Image 1" descr="/tmp/deck/shots/submitted.png">    </p:cNvPr>
          <p:cNvPicPr>
            <a:picLocks noChangeAspect="1"/>
          </p:cNvPicPr>
          <p:nvPr/>
        </p:nvPicPr>
        <p:blipFill>
          <a:blip r:embed="rId2"/>
          <a:stretch>
            <a:fillRect/>
          </a:stretch>
        </p:blipFill>
        <p:spPr>
          <a:xfrm>
            <a:off x="3221797" y="1837944"/>
            <a:ext cx="2161093" cy="3566160"/>
          </a:xfrm>
          <a:prstGeom prst="rect">
            <a:avLst/>
          </a:prstGeom>
        </p:spPr>
      </p:pic>
      <p:sp>
        <p:nvSpPr>
          <p:cNvPr id="8" name="Text 4"/>
          <p:cNvSpPr txBox="1"/>
          <p:nvPr/>
        </p:nvSpPr>
        <p:spPr>
          <a:xfrm>
            <a:off x="640080" y="5532120"/>
            <a:ext cx="2526853"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Report in your language</a:t>
            </a:r>
            <a:endParaRPr lang="en-US" sz="1400" dirty="0"/>
          </a:p>
        </p:txBody>
      </p:sp>
      <p:sp>
        <p:nvSpPr>
          <p:cNvPr id="9" name="Text 5"/>
          <p:cNvSpPr txBox="1"/>
          <p:nvPr/>
        </p:nvSpPr>
        <p:spPr>
          <a:xfrm>
            <a:off x="640080" y="5806440"/>
            <a:ext cx="2526853"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Quick or detailed form with a map pin</a:t>
            </a:r>
            <a:endParaRPr lang="en-US" sz="1100" dirty="0"/>
          </a:p>
        </p:txBody>
      </p:sp>
      <p:sp>
        <p:nvSpPr>
          <p:cNvPr id="10" name="Text 6"/>
          <p:cNvSpPr txBox="1"/>
          <p:nvPr/>
        </p:nvSpPr>
        <p:spPr>
          <a:xfrm>
            <a:off x="3166933" y="5532120"/>
            <a:ext cx="2526853"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Tracking reference</a:t>
            </a:r>
            <a:endParaRPr lang="en-US" sz="1400" dirty="0"/>
          </a:p>
        </p:txBody>
      </p:sp>
      <p:sp>
        <p:nvSpPr>
          <p:cNvPr id="11" name="Text 7"/>
          <p:cNvSpPr txBox="1"/>
          <p:nvPr/>
        </p:nvSpPr>
        <p:spPr>
          <a:xfrm>
            <a:off x="3166933" y="5806440"/>
            <a:ext cx="2526853"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Citizens follow status by ID</a:t>
            </a:r>
            <a:endParaRPr lang="en-US" sz="1100" dirty="0"/>
          </a:p>
        </p:txBody>
      </p:sp>
      <p:sp>
        <p:nvSpPr>
          <p:cNvPr id="12" name="Shape 8"/>
          <p:cNvSpPr/>
          <p:nvPr/>
        </p:nvSpPr>
        <p:spPr>
          <a:xfrm>
            <a:off x="6126480" y="1783080"/>
            <a:ext cx="5394960" cy="1861338"/>
          </a:xfrm>
          <a:prstGeom prst="roundRect">
            <a:avLst>
              <a:gd name="adj" fmla="val 4913"/>
            </a:avLst>
          </a:prstGeom>
          <a:solidFill>
            <a:srgbClr val="0F0F1A"/>
          </a:solidFill>
          <a:ln w="9525">
            <a:solidFill>
              <a:srgbClr val="E2E8F0"/>
            </a:solidFill>
            <a:prstDash val="solid"/>
          </a:ln>
          <a:effectLst>
            <a:outerShdw sx="100000" sy="100000" kx="0" ky="0" algn="bl" rotWithShape="0" blurRad="101600" dist="25400" dir="5400000">
              <a:srgbClr val="000000">
                <a:alpha val="12000"/>
              </a:srgbClr>
            </a:outerShdw>
          </a:effectLst>
        </p:spPr>
      </p:sp>
      <p:pic>
        <p:nvPicPr>
          <p:cNvPr id="13" name="Image 2" descr="/tmp/deck/shots/heatmap-map.png">    </p:cNvPr>
          <p:cNvPicPr>
            <a:picLocks noChangeAspect="1"/>
          </p:cNvPicPr>
          <p:nvPr/>
        </p:nvPicPr>
        <p:blipFill>
          <a:blip r:embed="rId3"/>
          <a:stretch>
            <a:fillRect/>
          </a:stretch>
        </p:blipFill>
        <p:spPr>
          <a:xfrm>
            <a:off x="6181344" y="1837944"/>
            <a:ext cx="5285232" cy="1751610"/>
          </a:xfrm>
          <a:prstGeom prst="rect">
            <a:avLst/>
          </a:prstGeom>
        </p:spPr>
      </p:pic>
      <p:sp>
        <p:nvSpPr>
          <p:cNvPr id="14" name="Text 9"/>
          <p:cNvSpPr txBox="1"/>
          <p:nvPr/>
        </p:nvSpPr>
        <p:spPr>
          <a:xfrm>
            <a:off x="6126480" y="3717570"/>
            <a:ext cx="539496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Demand heatmap: hotspots by category</a:t>
            </a:r>
            <a:endParaRPr lang="en-US" sz="1400" dirty="0"/>
          </a:p>
        </p:txBody>
      </p:sp>
      <p:sp>
        <p:nvSpPr>
          <p:cNvPr id="15" name="Shape 10"/>
          <p:cNvSpPr/>
          <p:nvPr/>
        </p:nvSpPr>
        <p:spPr>
          <a:xfrm>
            <a:off x="6126480" y="4156482"/>
            <a:ext cx="5394960" cy="1833357"/>
          </a:xfrm>
          <a:prstGeom prst="roundRect">
            <a:avLst>
              <a:gd name="adj" fmla="val 4988"/>
            </a:avLst>
          </a:prstGeom>
          <a:solidFill>
            <a:srgbClr val="0F0F1A"/>
          </a:solidFill>
          <a:ln w="9525">
            <a:solidFill>
              <a:srgbClr val="E2E8F0"/>
            </a:solidFill>
            <a:prstDash val="solid"/>
          </a:ln>
          <a:effectLst>
            <a:outerShdw sx="100000" sy="100000" kx="0" ky="0" algn="bl" rotWithShape="0" blurRad="101600" dist="25400" dir="5400000">
              <a:srgbClr val="000000">
                <a:alpha val="12000"/>
              </a:srgbClr>
            </a:outerShdw>
          </a:effectLst>
        </p:spPr>
      </p:sp>
      <p:pic>
        <p:nvPicPr>
          <p:cNvPr id="16" name="Image 3" descr="/tmp/deck/shots/dept-top.png">    </p:cNvPr>
          <p:cNvPicPr>
            <a:picLocks noChangeAspect="1"/>
          </p:cNvPicPr>
          <p:nvPr/>
        </p:nvPicPr>
        <p:blipFill>
          <a:blip r:embed="rId4"/>
          <a:stretch>
            <a:fillRect/>
          </a:stretch>
        </p:blipFill>
        <p:spPr>
          <a:xfrm>
            <a:off x="6181344" y="4211346"/>
            <a:ext cx="5285232" cy="1723629"/>
          </a:xfrm>
          <a:prstGeom prst="rect">
            <a:avLst/>
          </a:prstGeom>
        </p:spPr>
      </p:pic>
      <p:sp>
        <p:nvSpPr>
          <p:cNvPr id="17" name="Text 11"/>
          <p:cNvSpPr txBox="1"/>
          <p:nvPr/>
        </p:nvSpPr>
        <p:spPr>
          <a:xfrm>
            <a:off x="6126480" y="6026416"/>
            <a:ext cx="539496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Department SLA centre: AI auto-routing</a:t>
            </a:r>
            <a:endParaRPr lang="en-US" sz="1400" dirty="0"/>
          </a:p>
        </p:txBody>
      </p:sp>
      <p:pic>
        <p:nvPicPr>
          <p:cNvPr id="18" name="Image 4" descr="/tmp/deck/mark.png">    </p:cNvPr>
          <p:cNvPicPr>
            <a:picLocks noChangeAspect="1"/>
          </p:cNvPicPr>
          <p:nvPr/>
        </p:nvPicPr>
        <p:blipFill>
          <a:blip r:embed="rId5"/>
          <a:stretch>
            <a:fillRect/>
          </a:stretch>
        </p:blipFill>
        <p:spPr>
          <a:xfrm>
            <a:off x="640080" y="6355080"/>
            <a:ext cx="237744" cy="246888"/>
          </a:xfrm>
          <a:prstGeom prst="rect">
            <a:avLst/>
          </a:prstGeom>
        </p:spPr>
      </p:pic>
      <p:sp>
        <p:nvSpPr>
          <p:cNvPr id="19" name="Text 12"/>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NagarVaani</a:t>
            </a:r>
            <a:endParaRPr lang="en-US" sz="1100" dirty="0"/>
          </a:p>
        </p:txBody>
      </p:sp>
      <p:sp>
        <p:nvSpPr>
          <p:cNvPr id="20" name="Text 13"/>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0F172A"/>
                </a:solidFill>
                <a:latin typeface="Calibri" pitchFamily="34" charset="0"/>
                <a:ea typeface="Calibri" pitchFamily="34" charset="-122"/>
                <a:cs typeface="Calibri" pitchFamily="34" charset="-120"/>
              </a:rPr>
              <a:t>Built for India's linguistic diversity</a:t>
            </a:r>
            <a:endParaRPr lang="en-US" sz="3800" dirty="0"/>
          </a:p>
        </p:txBody>
      </p:sp>
      <p:sp>
        <p:nvSpPr>
          <p:cNvPr id="3" name="Text 1"/>
          <p:cNvSpPr txBox="1"/>
          <p:nvPr/>
        </p:nvSpPr>
        <p:spPr>
          <a:xfrm>
            <a:off x="640080" y="1261872"/>
            <a:ext cx="10911535" cy="411480"/>
          </a:xfrm>
          <a:prstGeom prst="rect">
            <a:avLst/>
          </a:prstGeom>
          <a:noFill/>
          <a:ln/>
        </p:spPr>
        <p:txBody>
          <a:bodyPr wrap="square" lIns="0" tIns="0" rIns="0" bIns="0" rtlCol="0" anchor="t"/>
          <a:lstStyle/>
          <a:p>
            <a:pPr indent="0" marL="0">
              <a:buNone/>
            </a:pPr>
            <a:r>
              <a:rPr lang="en-US" sz="1600" dirty="0">
                <a:solidFill>
                  <a:srgbClr val="64748B"/>
                </a:solidFill>
                <a:latin typeface="Calibri" pitchFamily="34" charset="0"/>
                <a:ea typeface="Calibri" pitchFamily="34" charset="-122"/>
                <a:cs typeface="Calibri" pitchFamily="34" charset="-120"/>
              </a:rPr>
              <a:t>Solving for India first, with BRICS as an extension</a:t>
            </a:r>
            <a:endParaRPr lang="en-US" sz="1600" dirty="0"/>
          </a:p>
        </p:txBody>
      </p:sp>
      <p:sp>
        <p:nvSpPr>
          <p:cNvPr id="4" name="Shape 2"/>
          <p:cNvSpPr/>
          <p:nvPr/>
        </p:nvSpPr>
        <p:spPr>
          <a:xfrm>
            <a:off x="640080" y="1783080"/>
            <a:ext cx="2560320" cy="1371600"/>
          </a:xfrm>
          <a:prstGeom prst="roundRect">
            <a:avLst>
              <a:gd name="adj" fmla="val 8000"/>
            </a:avLst>
          </a:prstGeom>
          <a:solidFill>
            <a:srgbClr val="6366F1"/>
          </a:solidFill>
          <a:ln w="9525">
            <a:solidFill>
              <a:srgbClr val="6366F1"/>
            </a:solidFill>
            <a:prstDash val="solid"/>
          </a:ln>
          <a:effectLst>
            <a:outerShdw sx="100000" sy="100000" kx="0" ky="0" algn="bl" rotWithShape="0" blurRad="101600" dist="25400" dir="5400000">
              <a:srgbClr val="000000">
                <a:alpha val="8000"/>
              </a:srgbClr>
            </a:outerShdw>
          </a:effectLst>
        </p:spPr>
      </p:sp>
      <p:sp>
        <p:nvSpPr>
          <p:cNvPr id="5" name="Text 3"/>
          <p:cNvSpPr txBox="1"/>
          <p:nvPr/>
        </p:nvSpPr>
        <p:spPr>
          <a:xfrm>
            <a:off x="868680" y="1828800"/>
            <a:ext cx="2103120" cy="7772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10</a:t>
            </a:r>
            <a:endParaRPr lang="en-US" sz="4400" dirty="0"/>
          </a:p>
        </p:txBody>
      </p:sp>
      <p:sp>
        <p:nvSpPr>
          <p:cNvPr id="6" name="Text 4"/>
          <p:cNvSpPr txBox="1"/>
          <p:nvPr/>
        </p:nvSpPr>
        <p:spPr>
          <a:xfrm>
            <a:off x="868680" y="2606040"/>
            <a:ext cx="2148840" cy="502920"/>
          </a:xfrm>
          <a:prstGeom prst="rect">
            <a:avLst/>
          </a:prstGeom>
          <a:noFill/>
          <a:ln/>
        </p:spPr>
        <p:txBody>
          <a:bodyPr wrap="square" lIns="0" tIns="0" rIns="0" bIns="0" rtlCol="0" anchor="t"/>
          <a:lstStyle/>
          <a:p>
            <a:pPr indent="0" marL="0">
              <a:buNone/>
            </a:pPr>
            <a:r>
              <a:rPr lang="en-US" sz="1250" dirty="0">
                <a:solidFill>
                  <a:srgbClr val="E0E7FF"/>
                </a:solidFill>
                <a:latin typeface="Calibri" pitchFamily="34" charset="0"/>
                <a:ea typeface="Calibri" pitchFamily="34" charset="-122"/>
                <a:cs typeface="Calibri" pitchFamily="34" charset="-120"/>
              </a:rPr>
              <a:t>Indian languages plus English</a:t>
            </a:r>
            <a:endParaRPr lang="en-US" sz="1250" dirty="0"/>
          </a:p>
        </p:txBody>
      </p:sp>
      <p:sp>
        <p:nvSpPr>
          <p:cNvPr id="7" name="Shape 5"/>
          <p:cNvSpPr/>
          <p:nvPr/>
        </p:nvSpPr>
        <p:spPr>
          <a:xfrm>
            <a:off x="3383280" y="1783080"/>
            <a:ext cx="2560320" cy="13716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8" name="Text 6"/>
          <p:cNvSpPr txBox="1"/>
          <p:nvPr/>
        </p:nvSpPr>
        <p:spPr>
          <a:xfrm>
            <a:off x="3611880" y="1828800"/>
            <a:ext cx="2103120" cy="777240"/>
          </a:xfrm>
          <a:prstGeom prst="rect">
            <a:avLst/>
          </a:prstGeom>
          <a:noFill/>
          <a:ln/>
        </p:spPr>
        <p:txBody>
          <a:bodyPr wrap="square" lIns="0" tIns="0" rIns="0" bIns="0" rtlCol="0" anchor="ctr"/>
          <a:lstStyle/>
          <a:p>
            <a:pPr indent="0" marL="0">
              <a:buNone/>
            </a:pPr>
            <a:r>
              <a:rPr lang="en-US" sz="4400" b="1" dirty="0">
                <a:solidFill>
                  <a:srgbClr val="6366F1"/>
                </a:solidFill>
                <a:latin typeface="Calibri" pitchFamily="34" charset="0"/>
                <a:ea typeface="Calibri" pitchFamily="34" charset="-122"/>
                <a:cs typeface="Calibri" pitchFamily="34" charset="-120"/>
              </a:rPr>
              <a:t>17</a:t>
            </a:r>
            <a:endParaRPr lang="en-US" sz="4400" dirty="0"/>
          </a:p>
        </p:txBody>
      </p:sp>
      <p:sp>
        <p:nvSpPr>
          <p:cNvPr id="9" name="Text 7"/>
          <p:cNvSpPr txBox="1"/>
          <p:nvPr/>
        </p:nvSpPr>
        <p:spPr>
          <a:xfrm>
            <a:off x="3611880" y="2606040"/>
            <a:ext cx="2148840" cy="5029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interface languages, six international</a:t>
            </a:r>
            <a:endParaRPr lang="en-US" sz="1250" dirty="0"/>
          </a:p>
        </p:txBody>
      </p:sp>
      <p:sp>
        <p:nvSpPr>
          <p:cNvPr id="10" name="Shape 8"/>
          <p:cNvSpPr/>
          <p:nvPr/>
        </p:nvSpPr>
        <p:spPr>
          <a:xfrm>
            <a:off x="6126480" y="1783080"/>
            <a:ext cx="2560320" cy="13716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Text 9"/>
          <p:cNvSpPr txBox="1"/>
          <p:nvPr/>
        </p:nvSpPr>
        <p:spPr>
          <a:xfrm>
            <a:off x="6355080" y="1828800"/>
            <a:ext cx="2103120" cy="777240"/>
          </a:xfrm>
          <a:prstGeom prst="rect">
            <a:avLst/>
          </a:prstGeom>
          <a:noFill/>
          <a:ln/>
        </p:spPr>
        <p:txBody>
          <a:bodyPr wrap="square" lIns="0" tIns="0" rIns="0" bIns="0" rtlCol="0" anchor="ctr"/>
          <a:lstStyle/>
          <a:p>
            <a:pPr indent="0" marL="0">
              <a:buNone/>
            </a:pPr>
            <a:r>
              <a:rPr lang="en-US" sz="4400" b="1" dirty="0">
                <a:solidFill>
                  <a:srgbClr val="6366F1"/>
                </a:solidFill>
                <a:latin typeface="Calibri" pitchFamily="34" charset="0"/>
                <a:ea typeface="Calibri" pitchFamily="34" charset="-122"/>
                <a:cs typeface="Calibri" pitchFamily="34" charset="-120"/>
              </a:rPr>
              <a:t>20+</a:t>
            </a:r>
            <a:endParaRPr lang="en-US" sz="4400" dirty="0"/>
          </a:p>
        </p:txBody>
      </p:sp>
      <p:sp>
        <p:nvSpPr>
          <p:cNvPr id="12" name="Text 10"/>
          <p:cNvSpPr txBox="1"/>
          <p:nvPr/>
        </p:nvSpPr>
        <p:spPr>
          <a:xfrm>
            <a:off x="6355080" y="2606040"/>
            <a:ext cx="2148840" cy="5029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states in the Indian seed data</a:t>
            </a:r>
            <a:endParaRPr lang="en-US" sz="1250" dirty="0"/>
          </a:p>
        </p:txBody>
      </p:sp>
      <p:sp>
        <p:nvSpPr>
          <p:cNvPr id="13" name="Shape 11"/>
          <p:cNvSpPr/>
          <p:nvPr/>
        </p:nvSpPr>
        <p:spPr>
          <a:xfrm>
            <a:off x="8869680" y="1783080"/>
            <a:ext cx="2560320" cy="13716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4" name="Text 12"/>
          <p:cNvSpPr txBox="1"/>
          <p:nvPr/>
        </p:nvSpPr>
        <p:spPr>
          <a:xfrm>
            <a:off x="9098280" y="1828800"/>
            <a:ext cx="2103120" cy="777240"/>
          </a:xfrm>
          <a:prstGeom prst="rect">
            <a:avLst/>
          </a:prstGeom>
          <a:noFill/>
          <a:ln/>
        </p:spPr>
        <p:txBody>
          <a:bodyPr wrap="square" lIns="0" tIns="0" rIns="0" bIns="0" rtlCol="0" anchor="ctr"/>
          <a:lstStyle/>
          <a:p>
            <a:pPr indent="0" marL="0">
              <a:buNone/>
            </a:pPr>
            <a:r>
              <a:rPr lang="en-US" sz="4400" b="1" dirty="0">
                <a:solidFill>
                  <a:srgbClr val="6366F1"/>
                </a:solidFill>
                <a:latin typeface="Calibri" pitchFamily="34" charset="0"/>
                <a:ea typeface="Calibri" pitchFamily="34" charset="-122"/>
                <a:cs typeface="Calibri" pitchFamily="34" charset="-120"/>
              </a:rPr>
              <a:t>5</a:t>
            </a:r>
            <a:endParaRPr lang="en-US" sz="4400" dirty="0"/>
          </a:p>
        </p:txBody>
      </p:sp>
      <p:sp>
        <p:nvSpPr>
          <p:cNvPr id="15" name="Text 13"/>
          <p:cNvSpPr txBox="1"/>
          <p:nvPr/>
        </p:nvSpPr>
        <p:spPr>
          <a:xfrm>
            <a:off x="9098280" y="2606040"/>
            <a:ext cx="2148840" cy="5029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BRICS countries in the comparison view</a:t>
            </a:r>
            <a:endParaRPr lang="en-US" sz="1250" dirty="0"/>
          </a:p>
        </p:txBody>
      </p:sp>
      <p:sp>
        <p:nvSpPr>
          <p:cNvPr id="16" name="Shape 14"/>
          <p:cNvSpPr/>
          <p:nvPr/>
        </p:nvSpPr>
        <p:spPr>
          <a:xfrm>
            <a:off x="640080" y="3429000"/>
            <a:ext cx="5687568" cy="2706624"/>
          </a:xfrm>
          <a:prstGeom prst="roundRect">
            <a:avLst>
              <a:gd name="adj" fmla="val 3378"/>
            </a:avLst>
          </a:prstGeom>
          <a:solidFill>
            <a:srgbClr val="0F0F1A"/>
          </a:solidFill>
          <a:ln w="9525">
            <a:solidFill>
              <a:srgbClr val="E2E8F0"/>
            </a:solidFill>
            <a:prstDash val="solid"/>
          </a:ln>
          <a:effectLst>
            <a:outerShdw sx="100000" sy="100000" kx="0" ky="0" algn="bl" rotWithShape="0" blurRad="101600" dist="25400" dir="5400000">
              <a:srgbClr val="000000">
                <a:alpha val="12000"/>
              </a:srgbClr>
            </a:outerShdw>
          </a:effectLst>
        </p:spPr>
      </p:sp>
      <p:pic>
        <p:nvPicPr>
          <p:cNvPr id="17" name="Image 0" descr="/tmp/deck/shots/brics.png">    </p:cNvPr>
          <p:cNvPicPr>
            <a:picLocks noChangeAspect="1"/>
          </p:cNvPicPr>
          <p:nvPr/>
        </p:nvPicPr>
        <p:blipFill>
          <a:blip r:embed="rId1"/>
          <a:stretch>
            <a:fillRect/>
          </a:stretch>
        </p:blipFill>
        <p:spPr>
          <a:xfrm>
            <a:off x="694944" y="3483864"/>
            <a:ext cx="5577840" cy="2594344"/>
          </a:xfrm>
          <a:prstGeom prst="rect">
            <a:avLst/>
          </a:prstGeom>
        </p:spPr>
      </p:pic>
      <p:sp>
        <p:nvSpPr>
          <p:cNvPr id="18" name="Shape 15"/>
          <p:cNvSpPr/>
          <p:nvPr/>
        </p:nvSpPr>
        <p:spPr>
          <a:xfrm>
            <a:off x="6583680" y="3429000"/>
            <a:ext cx="4983480" cy="2706624"/>
          </a:xfrm>
          <a:prstGeom prst="roundRect">
            <a:avLst>
              <a:gd name="adj" fmla="val 4054"/>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9" name="Text 16"/>
          <p:cNvSpPr txBox="1"/>
          <p:nvPr/>
        </p:nvSpPr>
        <p:spPr>
          <a:xfrm>
            <a:off x="6858000" y="3547872"/>
            <a:ext cx="4480560" cy="3200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Languages</a:t>
            </a:r>
            <a:endParaRPr lang="en-US" sz="1600" dirty="0"/>
          </a:p>
        </p:txBody>
      </p:sp>
      <p:sp>
        <p:nvSpPr>
          <p:cNvPr id="20" name="Text 17"/>
          <p:cNvSpPr txBox="1"/>
          <p:nvPr/>
        </p:nvSpPr>
        <p:spPr>
          <a:xfrm>
            <a:off x="6858000" y="3913632"/>
            <a:ext cx="4480560" cy="8229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Hindi, Bengali, Tamil, Telugu, Marathi, Gujarati, Kannada, Malayalam, Punjabi, Odia and English.</a:t>
            </a:r>
            <a:endParaRPr lang="en-US" sz="1250" dirty="0"/>
          </a:p>
        </p:txBody>
      </p:sp>
      <p:sp>
        <p:nvSpPr>
          <p:cNvPr id="21" name="Text 18"/>
          <p:cNvSpPr txBox="1"/>
          <p:nvPr/>
        </p:nvSpPr>
        <p:spPr>
          <a:xfrm>
            <a:off x="6858000" y="4754880"/>
            <a:ext cx="4480560" cy="82296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Gemini detects the language, so citizens never pick one. Original text and an English translation are both stored.</a:t>
            </a:r>
            <a:endParaRPr lang="en-US" sz="1250" dirty="0"/>
          </a:p>
        </p:txBody>
      </p:sp>
      <p:sp>
        <p:nvSpPr>
          <p:cNvPr id="22" name="Text 19"/>
          <p:cNvSpPr txBox="1"/>
          <p:nvPr/>
        </p:nvSpPr>
        <p:spPr>
          <a:xfrm>
            <a:off x="6858000" y="5715000"/>
            <a:ext cx="448056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BRICS view uses synthetic data.</a:t>
            </a:r>
            <a:endParaRPr lang="en-US" sz="1100" dirty="0"/>
          </a:p>
        </p:txBody>
      </p:sp>
      <p:pic>
        <p:nvPicPr>
          <p:cNvPr id="23" name="Image 1" descr="/tmp/deck/mark.png">    </p:cNvPr>
          <p:cNvPicPr>
            <a:picLocks noChangeAspect="1"/>
          </p:cNvPicPr>
          <p:nvPr/>
        </p:nvPicPr>
        <p:blipFill>
          <a:blip r:embed="rId2"/>
          <a:stretch>
            <a:fillRect/>
          </a:stretch>
        </p:blipFill>
        <p:spPr>
          <a:xfrm>
            <a:off x="640080" y="6355080"/>
            <a:ext cx="237744" cy="246888"/>
          </a:xfrm>
          <a:prstGeom prst="rect">
            <a:avLst/>
          </a:prstGeom>
        </p:spPr>
      </p:pic>
      <p:sp>
        <p:nvSpPr>
          <p:cNvPr id="24" name="Text 20"/>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NagarVaani</a:t>
            </a:r>
            <a:endParaRPr lang="en-US" sz="1100" dirty="0"/>
          </a:p>
        </p:txBody>
      </p:sp>
      <p:sp>
        <p:nvSpPr>
          <p:cNvPr id="25" name="Text 21"/>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0F172A"/>
                </a:solidFill>
                <a:latin typeface="Calibri" pitchFamily="34" charset="0"/>
                <a:ea typeface="Calibri" pitchFamily="34" charset="-122"/>
                <a:cs typeface="Calibri" pitchFamily="34" charset="-120"/>
              </a:rPr>
              <a:t>Deployable in days, safe by default</a:t>
            </a:r>
            <a:endParaRPr lang="en-US" sz="3800" dirty="0"/>
          </a:p>
        </p:txBody>
      </p:sp>
      <p:sp>
        <p:nvSpPr>
          <p:cNvPr id="3" name="Text 1"/>
          <p:cNvSpPr txBox="1"/>
          <p:nvPr/>
        </p:nvSpPr>
        <p:spPr>
          <a:xfrm>
            <a:off x="640080" y="1261872"/>
            <a:ext cx="10911535" cy="411480"/>
          </a:xfrm>
          <a:prstGeom prst="rect">
            <a:avLst/>
          </a:prstGeom>
          <a:noFill/>
          <a:ln/>
        </p:spPr>
        <p:txBody>
          <a:bodyPr wrap="square" lIns="0" tIns="0" rIns="0" bIns="0" rtlCol="0" anchor="t"/>
          <a:lstStyle/>
          <a:p>
            <a:pPr indent="0" marL="0">
              <a:buNone/>
            </a:pPr>
            <a:r>
              <a:rPr lang="en-US" sz="1600" dirty="0">
                <a:solidFill>
                  <a:srgbClr val="64748B"/>
                </a:solidFill>
                <a:latin typeface="Calibri" pitchFamily="34" charset="0"/>
                <a:ea typeface="Calibri" pitchFamily="34" charset="-122"/>
                <a:cs typeface="Calibri" pitchFamily="34" charset="-120"/>
              </a:rPr>
              <a:t>Cloud Run today, a ministry pilot next</a:t>
            </a:r>
            <a:endParaRPr lang="en-US" sz="1600" dirty="0"/>
          </a:p>
        </p:txBody>
      </p:sp>
      <p:sp>
        <p:nvSpPr>
          <p:cNvPr id="4" name="Shape 2"/>
          <p:cNvSpPr/>
          <p:nvPr/>
        </p:nvSpPr>
        <p:spPr>
          <a:xfrm>
            <a:off x="640080" y="1828800"/>
            <a:ext cx="5303520" cy="4160520"/>
          </a:xfrm>
          <a:prstGeom prst="roundRect">
            <a:avLst>
              <a:gd name="adj" fmla="val 2637"/>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914400" y="2057400"/>
            <a:ext cx="640080" cy="640080"/>
          </a:xfrm>
          <a:prstGeom prst="ellipse">
            <a:avLst/>
          </a:prstGeom>
          <a:solidFill>
            <a:srgbClr val="6366F1"/>
          </a:solidFill>
          <a:ln w="12700">
            <a:solidFill>
              <a:srgbClr val="6366F1"/>
            </a:solidFill>
            <a:prstDash val="solid"/>
          </a:ln>
        </p:spPr>
      </p:sp>
      <p:pic>
        <p:nvPicPr>
          <p:cNvPr id="6" name="Image 0" descr="preencoded.png">    </p:cNvPr>
          <p:cNvPicPr>
            <a:picLocks noChangeAspect="1"/>
          </p:cNvPicPr>
          <p:nvPr/>
        </p:nvPicPr>
        <p:blipFill>
          <a:blip r:embed="rId1"/>
          <a:stretch>
            <a:fillRect/>
          </a:stretch>
        </p:blipFill>
        <p:spPr>
          <a:xfrm>
            <a:off x="1074420" y="2217420"/>
            <a:ext cx="320040" cy="320040"/>
          </a:xfrm>
          <a:prstGeom prst="rect">
            <a:avLst/>
          </a:prstGeom>
        </p:spPr>
      </p:pic>
      <p:sp>
        <p:nvSpPr>
          <p:cNvPr id="7" name="Text 4"/>
          <p:cNvSpPr txBox="1"/>
          <p:nvPr/>
        </p:nvSpPr>
        <p:spPr>
          <a:xfrm>
            <a:off x="1737360" y="2103120"/>
            <a:ext cx="3931920" cy="54864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Deployability</a:t>
            </a:r>
            <a:endParaRPr lang="en-US" sz="2200" dirty="0"/>
          </a:p>
        </p:txBody>
      </p:sp>
      <p:sp>
        <p:nvSpPr>
          <p:cNvPr id="8" name="Text 5"/>
          <p:cNvSpPr txBox="1"/>
          <p:nvPr/>
        </p:nvSpPr>
        <p:spPr>
          <a:xfrm>
            <a:off x="960120" y="2926080"/>
            <a:ext cx="4663440" cy="28346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64748B"/>
                </a:solidFill>
                <a:latin typeface="Calibri" pitchFamily="34" charset="0"/>
                <a:ea typeface="Calibri" pitchFamily="34" charset="-122"/>
                <a:cs typeface="Calibri" pitchFamily="34" charset="-120"/>
              </a:rPr>
              <a:t>One container on Cloud Run (asia-south1)</a:t>
            </a:r>
            <a:endParaRPr lang="en-US" sz="1600" dirty="0"/>
          </a:p>
          <a:p>
            <a:pPr marL="342900" indent="-342900">
              <a:spcAft>
                <a:spcPts val="1200"/>
              </a:spcAft>
              <a:buSzPct val="100000"/>
              <a:buChar char="•"/>
            </a:pPr>
            <a:r>
              <a:rPr lang="en-US" sz="1600" dirty="0">
                <a:solidFill>
                  <a:srgbClr val="64748B"/>
                </a:solidFill>
                <a:latin typeface="Calibri" pitchFamily="34" charset="0"/>
                <a:ea typeface="Calibri" pitchFamily="34" charset="-122"/>
                <a:cs typeface="Calibri" pitchFamily="34" charset="-120"/>
              </a:rPr>
              <a:t>Demo mode needs only a Gemini key; live mode adds Firebase roles</a:t>
            </a:r>
            <a:endParaRPr lang="en-US" sz="1600" dirty="0"/>
          </a:p>
          <a:p>
            <a:pPr marL="342900" indent="-342900">
              <a:spcAft>
                <a:spcPts val="1200"/>
              </a:spcAft>
              <a:buSzPct val="100000"/>
              <a:buChar char="•"/>
            </a:pPr>
            <a:r>
              <a:rPr lang="en-US" sz="1600" dirty="0">
                <a:solidFill>
                  <a:srgbClr val="64748B"/>
                </a:solidFill>
                <a:latin typeface="Calibri" pitchFamily="34" charset="0"/>
                <a:ea typeface="Calibri" pitchFamily="34" charset="-122"/>
                <a:cs typeface="Calibri" pitchFamily="34" charset="-120"/>
              </a:rPr>
              <a:t>Health and readiness endpoints, source-deploy guide</a:t>
            </a:r>
            <a:endParaRPr lang="en-US" sz="1600" dirty="0"/>
          </a:p>
          <a:p>
            <a:pPr marL="342900" indent="-342900">
              <a:spcAft>
                <a:spcPts val="1200"/>
              </a:spcAft>
              <a:buSzPct val="100000"/>
              <a:buChar char="•"/>
            </a:pPr>
            <a:r>
              <a:rPr lang="en-US" sz="1600" dirty="0">
                <a:solidFill>
                  <a:srgbClr val="64748B"/>
                </a:solidFill>
                <a:latin typeface="Calibri" pitchFamily="34" charset="0"/>
                <a:ea typeface="Calibri" pitchFamily="34" charset="-122"/>
                <a:cs typeface="Calibri" pitchFamily="34" charset="-120"/>
              </a:rPr>
              <a:t>CI: lint, 39 unit tests, build, smoke test, Playwright browser check</a:t>
            </a:r>
            <a:endParaRPr lang="en-US" sz="1600" dirty="0"/>
          </a:p>
        </p:txBody>
      </p:sp>
      <p:sp>
        <p:nvSpPr>
          <p:cNvPr id="9" name="Shape 6"/>
          <p:cNvSpPr/>
          <p:nvPr/>
        </p:nvSpPr>
        <p:spPr>
          <a:xfrm>
            <a:off x="6217920" y="1828800"/>
            <a:ext cx="5303520" cy="4160520"/>
          </a:xfrm>
          <a:prstGeom prst="roundRect">
            <a:avLst>
              <a:gd name="adj" fmla="val 2637"/>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0" name="Shape 7"/>
          <p:cNvSpPr/>
          <p:nvPr/>
        </p:nvSpPr>
        <p:spPr>
          <a:xfrm>
            <a:off x="6492240" y="2057400"/>
            <a:ext cx="640080" cy="640080"/>
          </a:xfrm>
          <a:prstGeom prst="ellipse">
            <a:avLst/>
          </a:prstGeom>
          <a:solidFill>
            <a:srgbClr val="8B5CF6"/>
          </a:solidFill>
          <a:ln w="12700">
            <a:solidFill>
              <a:srgbClr val="8B5CF6"/>
            </a:solidFill>
            <a:prstDash val="solid"/>
          </a:ln>
        </p:spPr>
      </p:sp>
      <p:pic>
        <p:nvPicPr>
          <p:cNvPr id="11" name="Image 1" descr="preencoded.png">    </p:cNvPr>
          <p:cNvPicPr>
            <a:picLocks noChangeAspect="1"/>
          </p:cNvPicPr>
          <p:nvPr/>
        </p:nvPicPr>
        <p:blipFill>
          <a:blip r:embed="rId2"/>
          <a:stretch>
            <a:fillRect/>
          </a:stretch>
        </p:blipFill>
        <p:spPr>
          <a:xfrm>
            <a:off x="6652260" y="2217420"/>
            <a:ext cx="320040" cy="320040"/>
          </a:xfrm>
          <a:prstGeom prst="rect">
            <a:avLst/>
          </a:prstGeom>
        </p:spPr>
      </p:pic>
      <p:sp>
        <p:nvSpPr>
          <p:cNvPr id="12" name="Text 8"/>
          <p:cNvSpPr txBox="1"/>
          <p:nvPr/>
        </p:nvSpPr>
        <p:spPr>
          <a:xfrm>
            <a:off x="7315200" y="2103120"/>
            <a:ext cx="3931920" cy="54864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Safety and privacy</a:t>
            </a:r>
            <a:endParaRPr lang="en-US" sz="2200" dirty="0"/>
          </a:p>
        </p:txBody>
      </p:sp>
      <p:sp>
        <p:nvSpPr>
          <p:cNvPr id="13" name="Text 9"/>
          <p:cNvSpPr txBox="1"/>
          <p:nvPr/>
        </p:nvSpPr>
        <p:spPr>
          <a:xfrm>
            <a:off x="6537960" y="2926080"/>
            <a:ext cx="4663440" cy="28346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64748B"/>
                </a:solidFill>
                <a:latin typeface="Calibri" pitchFamily="34" charset="0"/>
                <a:ea typeface="Calibri" pitchFamily="34" charset="-122"/>
                <a:cs typeface="Calibri" pitchFamily="34" charset="-120"/>
              </a:rPr>
              <a:t>PII redacted before any Gemini call</a:t>
            </a:r>
            <a:endParaRPr lang="en-US" sz="1600" dirty="0"/>
          </a:p>
          <a:p>
            <a:pPr marL="342900" indent="-342900">
              <a:spcAft>
                <a:spcPts val="1200"/>
              </a:spcAft>
              <a:buSzPct val="100000"/>
              <a:buChar char="•"/>
            </a:pPr>
            <a:r>
              <a:rPr lang="en-US" sz="1600" dirty="0">
                <a:solidFill>
                  <a:srgbClr val="64748B"/>
                </a:solidFill>
                <a:latin typeface="Calibri" pitchFamily="34" charset="0"/>
                <a:ea typeface="Calibri" pitchFamily="34" charset="-122"/>
                <a:cs typeface="Calibri" pitchFamily="34" charset="-120"/>
              </a:rPr>
              <a:t>WhatsApp webhook verified with HMAC signatures</a:t>
            </a:r>
            <a:endParaRPr lang="en-US" sz="1600" dirty="0"/>
          </a:p>
          <a:p>
            <a:pPr marL="342900" indent="-342900">
              <a:spcAft>
                <a:spcPts val="1200"/>
              </a:spcAft>
              <a:buSzPct val="100000"/>
              <a:buChar char="•"/>
            </a:pPr>
            <a:r>
              <a:rPr lang="en-US" sz="1600" dirty="0">
                <a:solidFill>
                  <a:srgbClr val="64748B"/>
                </a:solidFill>
                <a:latin typeface="Calibri" pitchFamily="34" charset="0"/>
                <a:ea typeface="Calibri" pitchFamily="34" charset="-122"/>
                <a:cs typeface="Calibri" pitchFamily="34" charset="-120"/>
              </a:rPr>
              <a:t>Firebase sign-in with admin, supervisor, operator, auditor roles; audit logs</a:t>
            </a:r>
            <a:endParaRPr lang="en-US" sz="1600" dirty="0"/>
          </a:p>
          <a:p>
            <a:pPr marL="342900" indent="-342900">
              <a:spcAft>
                <a:spcPts val="1200"/>
              </a:spcAft>
              <a:buSzPct val="100000"/>
              <a:buChar char="•"/>
            </a:pPr>
            <a:r>
              <a:rPr lang="en-US" sz="1600" dirty="0">
                <a:solidFill>
                  <a:srgbClr val="64748B"/>
                </a:solidFill>
                <a:latin typeface="Calibri" pitchFamily="34" charset="0"/>
                <a:ea typeface="Calibri" pitchFamily="34" charset="-122"/>
                <a:cs typeface="Calibri" pitchFamily="34" charset="-120"/>
              </a:rPr>
              <a:t>Rate limits, size limits, daily Gemini cap, retention job</a:t>
            </a:r>
            <a:endParaRPr lang="en-US" sz="1600" dirty="0"/>
          </a:p>
        </p:txBody>
      </p:sp>
      <p:pic>
        <p:nvPicPr>
          <p:cNvPr id="14" name="Image 2" descr="/tmp/deck/mark.png">    </p:cNvPr>
          <p:cNvPicPr>
            <a:picLocks noChangeAspect="1"/>
          </p:cNvPicPr>
          <p:nvPr/>
        </p:nvPicPr>
        <p:blipFill>
          <a:blip r:embed="rId3"/>
          <a:stretch>
            <a:fillRect/>
          </a:stretch>
        </p:blipFill>
        <p:spPr>
          <a:xfrm>
            <a:off x="640080" y="6355080"/>
            <a:ext cx="237744" cy="246888"/>
          </a:xfrm>
          <a:prstGeom prst="rect">
            <a:avLst/>
          </a:prstGeom>
        </p:spPr>
      </p:pic>
      <p:sp>
        <p:nvSpPr>
          <p:cNvPr id="15" name="Text 10"/>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NagarVaani</a:t>
            </a:r>
            <a:endParaRPr lang="en-US" sz="1100" dirty="0"/>
          </a:p>
        </p:txBody>
      </p:sp>
      <p:sp>
        <p:nvSpPr>
          <p:cNvPr id="16" name="Text 11"/>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800" b="1" dirty="0">
                <a:solidFill>
                  <a:srgbClr val="0F172A"/>
                </a:solidFill>
                <a:latin typeface="Calibri" pitchFamily="34" charset="0"/>
                <a:ea typeface="Calibri" pitchFamily="34" charset="-122"/>
                <a:cs typeface="Calibri" pitchFamily="34" charset="-120"/>
              </a:rPr>
              <a:t>From hackathon prototype to ministry pilot</a:t>
            </a:r>
            <a:endParaRPr lang="en-US" sz="3800" dirty="0"/>
          </a:p>
        </p:txBody>
      </p:sp>
      <p:sp>
        <p:nvSpPr>
          <p:cNvPr id="3" name="Text 1"/>
          <p:cNvSpPr txBox="1"/>
          <p:nvPr/>
        </p:nvSpPr>
        <p:spPr>
          <a:xfrm>
            <a:off x="640080" y="1261872"/>
            <a:ext cx="10911535" cy="411480"/>
          </a:xfrm>
          <a:prstGeom prst="rect">
            <a:avLst/>
          </a:prstGeom>
          <a:noFill/>
          <a:ln/>
        </p:spPr>
        <p:txBody>
          <a:bodyPr wrap="square" lIns="0" tIns="0" rIns="0" bIns="0" rtlCol="0" anchor="t"/>
          <a:lstStyle/>
          <a:p>
            <a:pPr indent="0" marL="0">
              <a:buNone/>
            </a:pPr>
            <a:r>
              <a:rPr lang="en-US" sz="1600" dirty="0">
                <a:solidFill>
                  <a:srgbClr val="64748B"/>
                </a:solidFill>
                <a:latin typeface="Calibri" pitchFamily="34" charset="0"/>
                <a:ea typeface="Calibri" pitchFamily="34" charset="-122"/>
                <a:cs typeface="Calibri" pitchFamily="34" charset="-120"/>
              </a:rPr>
              <a:t>Honest limits today, a clear path forward</a:t>
            </a:r>
            <a:endParaRPr lang="en-US" sz="1600" dirty="0"/>
          </a:p>
        </p:txBody>
      </p:sp>
      <p:sp>
        <p:nvSpPr>
          <p:cNvPr id="4" name="Shape 2"/>
          <p:cNvSpPr/>
          <p:nvPr/>
        </p:nvSpPr>
        <p:spPr>
          <a:xfrm>
            <a:off x="1005840" y="2240280"/>
            <a:ext cx="8449056" cy="0"/>
          </a:xfrm>
          <a:prstGeom prst="line">
            <a:avLst/>
          </a:prstGeom>
          <a:noFill/>
          <a:ln w="25400">
            <a:solidFill>
              <a:srgbClr val="6366F1"/>
            </a:solidFill>
            <a:prstDash val="solid"/>
          </a:ln>
        </p:spPr>
      </p:sp>
      <p:sp>
        <p:nvSpPr>
          <p:cNvPr id="5" name="Shape 3"/>
          <p:cNvSpPr/>
          <p:nvPr/>
        </p:nvSpPr>
        <p:spPr>
          <a:xfrm>
            <a:off x="731520" y="2057400"/>
            <a:ext cx="365760" cy="365760"/>
          </a:xfrm>
          <a:prstGeom prst="ellipse">
            <a:avLst/>
          </a:prstGeom>
          <a:solidFill>
            <a:srgbClr val="F59E0B"/>
          </a:solidFill>
          <a:ln w="38100">
            <a:solidFill>
              <a:srgbClr val="F8FAFC"/>
            </a:solidFill>
            <a:prstDash val="solid"/>
          </a:ln>
        </p:spPr>
      </p:sp>
      <p:sp>
        <p:nvSpPr>
          <p:cNvPr id="6" name="Shape 4"/>
          <p:cNvSpPr/>
          <p:nvPr/>
        </p:nvSpPr>
        <p:spPr>
          <a:xfrm>
            <a:off x="640080" y="2743200"/>
            <a:ext cx="2560320" cy="2148840"/>
          </a:xfrm>
          <a:prstGeom prst="roundRect">
            <a:avLst>
              <a:gd name="adj" fmla="val 5106"/>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Text 5"/>
          <p:cNvSpPr txBox="1"/>
          <p:nvPr/>
        </p:nvSpPr>
        <p:spPr>
          <a:xfrm>
            <a:off x="868680" y="2880360"/>
            <a:ext cx="2103120" cy="411480"/>
          </a:xfrm>
          <a:prstGeom prst="rect">
            <a:avLst/>
          </a:prstGeom>
          <a:noFill/>
          <a:ln/>
        </p:spPr>
        <p:txBody>
          <a:bodyPr wrap="square" lIns="0" tIns="0" rIns="0" bIns="0" rtlCol="0" anchor="ctr"/>
          <a:lstStyle/>
          <a:p>
            <a:pPr indent="0" marL="0">
              <a:buNone/>
            </a:pPr>
            <a:r>
              <a:rPr lang="en-US" sz="2000" b="1" dirty="0">
                <a:solidFill>
                  <a:srgbClr val="F59E0B"/>
                </a:solidFill>
                <a:latin typeface="Calibri" pitchFamily="34" charset="0"/>
                <a:ea typeface="Calibri" pitchFamily="34" charset="-122"/>
                <a:cs typeface="Calibri" pitchFamily="34" charset="-120"/>
              </a:rPr>
              <a:t>Today</a:t>
            </a:r>
            <a:endParaRPr lang="en-US" sz="2000" dirty="0"/>
          </a:p>
        </p:txBody>
      </p:sp>
      <p:sp>
        <p:nvSpPr>
          <p:cNvPr id="8" name="Text 6"/>
          <p:cNvSpPr txBox="1"/>
          <p:nvPr/>
        </p:nvSpPr>
        <p:spPr>
          <a:xfrm>
            <a:off x="868680" y="3337560"/>
            <a:ext cx="2103120" cy="1463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Working prototype: multichannel intake, Gemini triage, need-weighted ranking, live demo.</a:t>
            </a:r>
            <a:endParaRPr lang="en-US" sz="1300" dirty="0"/>
          </a:p>
        </p:txBody>
      </p:sp>
      <p:sp>
        <p:nvSpPr>
          <p:cNvPr id="9" name="Shape 7"/>
          <p:cNvSpPr/>
          <p:nvPr/>
        </p:nvSpPr>
        <p:spPr>
          <a:xfrm>
            <a:off x="3547872" y="2057400"/>
            <a:ext cx="365760" cy="365760"/>
          </a:xfrm>
          <a:prstGeom prst="ellipse">
            <a:avLst/>
          </a:prstGeom>
          <a:solidFill>
            <a:srgbClr val="6366F1"/>
          </a:solidFill>
          <a:ln w="38100">
            <a:solidFill>
              <a:srgbClr val="F8FAFC"/>
            </a:solidFill>
            <a:prstDash val="solid"/>
          </a:ln>
        </p:spPr>
      </p:sp>
      <p:sp>
        <p:nvSpPr>
          <p:cNvPr id="10" name="Shape 8"/>
          <p:cNvSpPr/>
          <p:nvPr/>
        </p:nvSpPr>
        <p:spPr>
          <a:xfrm>
            <a:off x="3456432" y="2743200"/>
            <a:ext cx="2560320" cy="2148840"/>
          </a:xfrm>
          <a:prstGeom prst="roundRect">
            <a:avLst>
              <a:gd name="adj" fmla="val 5106"/>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Text 9"/>
          <p:cNvSpPr txBox="1"/>
          <p:nvPr/>
        </p:nvSpPr>
        <p:spPr>
          <a:xfrm>
            <a:off x="3685032" y="2880360"/>
            <a:ext cx="2103120" cy="411480"/>
          </a:xfrm>
          <a:prstGeom prst="rect">
            <a:avLst/>
          </a:prstGeom>
          <a:noFill/>
          <a:ln/>
        </p:spPr>
        <p:txBody>
          <a:bodyPr wrap="square" lIns="0" tIns="0" rIns="0" bIns="0" rtlCol="0" anchor="ctr"/>
          <a:lstStyle/>
          <a:p>
            <a:pPr indent="0" marL="0">
              <a:buNone/>
            </a:pPr>
            <a:r>
              <a:rPr lang="en-US" sz="2000" b="1" dirty="0">
                <a:solidFill>
                  <a:srgbClr val="6366F1"/>
                </a:solidFill>
                <a:latin typeface="Calibri" pitchFamily="34" charset="0"/>
                <a:ea typeface="Calibri" pitchFamily="34" charset="-122"/>
                <a:cs typeface="Calibri" pitchFamily="34" charset="-120"/>
              </a:rPr>
              <a:t>Next</a:t>
            </a:r>
            <a:endParaRPr lang="en-US" sz="2000" dirty="0"/>
          </a:p>
        </p:txBody>
      </p:sp>
      <p:sp>
        <p:nvSpPr>
          <p:cNvPr id="12" name="Text 10"/>
          <p:cNvSpPr txBox="1"/>
          <p:nvPr/>
        </p:nvSpPr>
        <p:spPr>
          <a:xfrm>
            <a:off x="3685032" y="3337560"/>
            <a:ext cx="2103120" cy="1463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Finish national data coverage, verify Census figures, evaluate Gemini on real complaints.</a:t>
            </a:r>
            <a:endParaRPr lang="en-US" sz="1300" dirty="0"/>
          </a:p>
        </p:txBody>
      </p:sp>
      <p:sp>
        <p:nvSpPr>
          <p:cNvPr id="13" name="Shape 11"/>
          <p:cNvSpPr/>
          <p:nvPr/>
        </p:nvSpPr>
        <p:spPr>
          <a:xfrm>
            <a:off x="6364224" y="2057400"/>
            <a:ext cx="365760" cy="365760"/>
          </a:xfrm>
          <a:prstGeom prst="ellipse">
            <a:avLst/>
          </a:prstGeom>
          <a:solidFill>
            <a:srgbClr val="6366F1"/>
          </a:solidFill>
          <a:ln w="38100">
            <a:solidFill>
              <a:srgbClr val="F8FAFC"/>
            </a:solidFill>
            <a:prstDash val="solid"/>
          </a:ln>
        </p:spPr>
      </p:sp>
      <p:sp>
        <p:nvSpPr>
          <p:cNvPr id="14" name="Shape 12"/>
          <p:cNvSpPr/>
          <p:nvPr/>
        </p:nvSpPr>
        <p:spPr>
          <a:xfrm>
            <a:off x="6272784" y="2743200"/>
            <a:ext cx="2560320" cy="2148840"/>
          </a:xfrm>
          <a:prstGeom prst="roundRect">
            <a:avLst>
              <a:gd name="adj" fmla="val 5106"/>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5" name="Text 13"/>
          <p:cNvSpPr txBox="1"/>
          <p:nvPr/>
        </p:nvSpPr>
        <p:spPr>
          <a:xfrm>
            <a:off x="6501384" y="2880360"/>
            <a:ext cx="2103120" cy="411480"/>
          </a:xfrm>
          <a:prstGeom prst="rect">
            <a:avLst/>
          </a:prstGeom>
          <a:noFill/>
          <a:ln/>
        </p:spPr>
        <p:txBody>
          <a:bodyPr wrap="square" lIns="0" tIns="0" rIns="0" bIns="0" rtlCol="0" anchor="ctr"/>
          <a:lstStyle/>
          <a:p>
            <a:pPr indent="0" marL="0">
              <a:buNone/>
            </a:pPr>
            <a:r>
              <a:rPr lang="en-US" sz="2000" b="1" dirty="0">
                <a:solidFill>
                  <a:srgbClr val="6366F1"/>
                </a:solidFill>
                <a:latin typeface="Calibri" pitchFamily="34" charset="0"/>
                <a:ea typeface="Calibri" pitchFamily="34" charset="-122"/>
                <a:cs typeface="Calibri" pitchFamily="34" charset="-120"/>
              </a:rPr>
              <a:t>Pilot</a:t>
            </a:r>
            <a:endParaRPr lang="en-US" sz="2000" dirty="0"/>
          </a:p>
        </p:txBody>
      </p:sp>
      <p:sp>
        <p:nvSpPr>
          <p:cNvPr id="16" name="Text 14"/>
          <p:cNvSpPr txBox="1"/>
          <p:nvPr/>
        </p:nvSpPr>
        <p:spPr>
          <a:xfrm>
            <a:off x="6501384" y="3337560"/>
            <a:ext cx="2103120" cy="1463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Live-mode pilot with one state department: Firebase roles, WhatsApp Business, DPDP Act review.</a:t>
            </a:r>
            <a:endParaRPr lang="en-US" sz="1300" dirty="0"/>
          </a:p>
        </p:txBody>
      </p:sp>
      <p:sp>
        <p:nvSpPr>
          <p:cNvPr id="17" name="Shape 15"/>
          <p:cNvSpPr/>
          <p:nvPr/>
        </p:nvSpPr>
        <p:spPr>
          <a:xfrm>
            <a:off x="9180576" y="2057400"/>
            <a:ext cx="365760" cy="365760"/>
          </a:xfrm>
          <a:prstGeom prst="ellipse">
            <a:avLst/>
          </a:prstGeom>
          <a:solidFill>
            <a:srgbClr val="6366F1"/>
          </a:solidFill>
          <a:ln w="38100">
            <a:solidFill>
              <a:srgbClr val="F8FAFC"/>
            </a:solidFill>
            <a:prstDash val="solid"/>
          </a:ln>
        </p:spPr>
      </p:sp>
      <p:sp>
        <p:nvSpPr>
          <p:cNvPr id="18" name="Shape 16"/>
          <p:cNvSpPr/>
          <p:nvPr/>
        </p:nvSpPr>
        <p:spPr>
          <a:xfrm>
            <a:off x="9089136" y="2743200"/>
            <a:ext cx="2560320" cy="2148840"/>
          </a:xfrm>
          <a:prstGeom prst="roundRect">
            <a:avLst>
              <a:gd name="adj" fmla="val 5106"/>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9" name="Text 17"/>
          <p:cNvSpPr txBox="1"/>
          <p:nvPr/>
        </p:nvSpPr>
        <p:spPr>
          <a:xfrm>
            <a:off x="9317736" y="2880360"/>
            <a:ext cx="2103120" cy="411480"/>
          </a:xfrm>
          <a:prstGeom prst="rect">
            <a:avLst/>
          </a:prstGeom>
          <a:noFill/>
          <a:ln/>
        </p:spPr>
        <p:txBody>
          <a:bodyPr wrap="square" lIns="0" tIns="0" rIns="0" bIns="0" rtlCol="0" anchor="ctr"/>
          <a:lstStyle/>
          <a:p>
            <a:pPr indent="0" marL="0">
              <a:buNone/>
            </a:pPr>
            <a:r>
              <a:rPr lang="en-US" sz="2000" b="1" dirty="0">
                <a:solidFill>
                  <a:srgbClr val="6366F1"/>
                </a:solidFill>
                <a:latin typeface="Calibri" pitchFamily="34" charset="0"/>
                <a:ea typeface="Calibri" pitchFamily="34" charset="-122"/>
                <a:cs typeface="Calibri" pitchFamily="34" charset="-120"/>
              </a:rPr>
              <a:t>Scale</a:t>
            </a:r>
            <a:endParaRPr lang="en-US" sz="2000" dirty="0"/>
          </a:p>
        </p:txBody>
      </p:sp>
      <p:sp>
        <p:nvSpPr>
          <p:cNvPr id="20" name="Text 18"/>
          <p:cNvSpPr txBox="1"/>
          <p:nvPr/>
        </p:nvSpPr>
        <p:spPr>
          <a:xfrm>
            <a:off x="9317736" y="3337560"/>
            <a:ext cx="2103120" cy="1463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More states and languages by adding data, shared queue for multi-instance retries, monitoring.</a:t>
            </a:r>
            <a:endParaRPr lang="en-US" sz="1300" dirty="0"/>
          </a:p>
        </p:txBody>
      </p:sp>
      <p:sp>
        <p:nvSpPr>
          <p:cNvPr id="21" name="Text 19"/>
          <p:cNvSpPr txBox="1"/>
          <p:nvPr/>
        </p:nvSpPr>
        <p:spPr>
          <a:xfrm>
            <a:off x="640080" y="5212080"/>
            <a:ext cx="10911535" cy="73152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Impact: policymakers see evidence-backed priorities per district, so under-served communities are not lost behind high-volume ones.</a:t>
            </a:r>
            <a:endParaRPr lang="en-US" sz="1500" dirty="0"/>
          </a:p>
        </p:txBody>
      </p:sp>
      <p:pic>
        <p:nvPicPr>
          <p:cNvPr id="22" name="Image 0" descr="/tmp/deck/mark.png">    </p:cNvPr>
          <p:cNvPicPr>
            <a:picLocks noChangeAspect="1"/>
          </p:cNvPicPr>
          <p:nvPr/>
        </p:nvPicPr>
        <p:blipFill>
          <a:blip r:embed="rId1"/>
          <a:stretch>
            <a:fillRect/>
          </a:stretch>
        </p:blipFill>
        <p:spPr>
          <a:xfrm>
            <a:off x="640080" y="6355080"/>
            <a:ext cx="237744" cy="246888"/>
          </a:xfrm>
          <a:prstGeom prst="rect">
            <a:avLst/>
          </a:prstGeom>
        </p:spPr>
      </p:pic>
      <p:sp>
        <p:nvSpPr>
          <p:cNvPr id="23" name="Text 20"/>
          <p:cNvSpPr txBox="1"/>
          <p:nvPr/>
        </p:nvSpPr>
        <p:spPr>
          <a:xfrm>
            <a:off x="969264" y="6355080"/>
            <a:ext cx="1828800" cy="246888"/>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NagarVaani</a:t>
            </a:r>
            <a:endParaRPr lang="en-US" sz="1100" dirty="0"/>
          </a:p>
        </p:txBody>
      </p:sp>
      <p:sp>
        <p:nvSpPr>
          <p:cNvPr id="24" name="Text 21"/>
          <p:cNvSpPr txBox="1"/>
          <p:nvPr/>
        </p:nvSpPr>
        <p:spPr>
          <a:xfrm>
            <a:off x="11002975" y="6355080"/>
            <a:ext cx="548640" cy="24688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14"/>
        </a:solidFill>
      </p:bgPr>
    </p:bg>
    <p:spTree>
      <p:nvGrpSpPr>
        <p:cNvPr id="1" name=""/>
        <p:cNvGrpSpPr/>
        <p:nvPr/>
      </p:nvGrpSpPr>
      <p:grpSpPr>
        <a:xfrm>
          <a:off x="0" y="0"/>
          <a:ext cx="0" cy="0"/>
          <a:chOff x="0" y="0"/>
          <a:chExt cx="0" cy="0"/>
        </a:xfrm>
      </p:grpSpPr>
      <p:pic>
        <p:nvPicPr>
          <p:cNvPr id="2" name="Image 0" descr="/tmp/deck/mark.png">    </p:cNvPr>
          <p:cNvPicPr>
            <a:picLocks noChangeAspect="1"/>
          </p:cNvPicPr>
          <p:nvPr/>
        </p:nvPicPr>
        <p:blipFill>
          <a:blip r:embed="rId1"/>
          <a:stretch>
            <a:fillRect/>
          </a:stretch>
        </p:blipFill>
        <p:spPr>
          <a:xfrm>
            <a:off x="822960" y="1188720"/>
            <a:ext cx="1463040" cy="1508760"/>
          </a:xfrm>
          <a:prstGeom prst="rect">
            <a:avLst/>
          </a:prstGeom>
        </p:spPr>
      </p:pic>
      <p:sp>
        <p:nvSpPr>
          <p:cNvPr id="3" name="Text 0"/>
          <p:cNvSpPr txBox="1"/>
          <p:nvPr/>
        </p:nvSpPr>
        <p:spPr>
          <a:xfrm>
            <a:off x="822960" y="2926080"/>
            <a:ext cx="6583680" cy="146304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Every citizen's voice.</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Every city's priority.</a:t>
            </a:r>
            <a:endParaRPr lang="en-US" sz="4000" dirty="0"/>
          </a:p>
        </p:txBody>
      </p:sp>
      <p:sp>
        <p:nvSpPr>
          <p:cNvPr id="4" name="Text 1"/>
          <p:cNvSpPr txBox="1"/>
          <p:nvPr/>
        </p:nvSpPr>
        <p:spPr>
          <a:xfrm>
            <a:off x="822960" y="4572000"/>
            <a:ext cx="5486400" cy="457200"/>
          </a:xfrm>
          <a:prstGeom prst="rect">
            <a:avLst/>
          </a:prstGeom>
          <a:noFill/>
          <a:ln/>
        </p:spPr>
        <p:txBody>
          <a:bodyPr wrap="square" lIns="0" tIns="0" rIns="0" bIns="0" rtlCol="0" anchor="ctr"/>
          <a:lstStyle/>
          <a:p>
            <a:pPr indent="0" marL="0">
              <a:buNone/>
            </a:pPr>
            <a:r>
              <a:rPr lang="en-US" sz="2200" dirty="0">
                <a:solidFill>
                  <a:srgbClr val="F59E0B"/>
                </a:solidFill>
                <a:latin typeface="Calibri" pitchFamily="34" charset="0"/>
                <a:ea typeface="Calibri" pitchFamily="34" charset="-122"/>
                <a:cs typeface="Calibri" pitchFamily="34" charset="-120"/>
              </a:rPr>
              <a:t>Thank you</a:t>
            </a:r>
            <a:endParaRPr lang="en-US" sz="2200" dirty="0"/>
          </a:p>
        </p:txBody>
      </p:sp>
      <p:sp>
        <p:nvSpPr>
          <p:cNvPr id="5" name="Text 2"/>
          <p:cNvSpPr txBox="1"/>
          <p:nvPr/>
        </p:nvSpPr>
        <p:spPr>
          <a:xfrm>
            <a:off x="822960" y="5212080"/>
            <a:ext cx="7315200" cy="731520"/>
          </a:xfrm>
          <a:prstGeom prst="rect">
            <a:avLst/>
          </a:prstGeom>
          <a:noFill/>
          <a:ln/>
        </p:spPr>
        <p:txBody>
          <a:bodyPr wrap="square" lIns="0" tIns="0" rIns="0" bIns="0" rtlCol="0" anchor="t"/>
          <a:lstStyle/>
          <a:p>
            <a:pPr indent="0" marL="0">
              <a:buNone/>
            </a:pPr>
            <a:r>
              <a:rPr lang="en-US" sz="1400" dirty="0">
                <a:solidFill>
                  <a:srgbClr val="A5B4FC"/>
                </a:solidFill>
                <a:latin typeface="Calibri" pitchFamily="34" charset="0"/>
                <a:ea typeface="Calibri" pitchFamily="34" charset="-122"/>
                <a:cs typeface="Calibri" pitchFamily="34" charset="-120"/>
              </a:rPr>
              <a:t>Live demo   nagarvaani-636001394004.asia-south1.run.app</a:t>
            </a:r>
            <a:endParaRPr lang="en-US" sz="1400" dirty="0"/>
          </a:p>
          <a:p>
            <a:pPr indent="0" marL="0">
              <a:buNone/>
            </a:pPr>
            <a:r>
              <a:rPr lang="en-US" sz="1400" dirty="0">
                <a:solidFill>
                  <a:srgbClr val="A5B4FC"/>
                </a:solidFill>
                <a:latin typeface="Calibri" pitchFamily="34" charset="0"/>
                <a:ea typeface="Calibri" pitchFamily="34" charset="-122"/>
                <a:cs typeface="Calibri" pitchFamily="34" charset="-120"/>
              </a:rPr>
              <a:t>Code          github.com/rohilkohli/NagarVaani</a:t>
            </a:r>
            <a:endParaRPr lang="en-US" sz="1400" dirty="0"/>
          </a:p>
        </p:txBody>
      </p:sp>
      <p:sp>
        <p:nvSpPr>
          <p:cNvPr id="6" name="Shape 3"/>
          <p:cNvSpPr/>
          <p:nvPr/>
        </p:nvSpPr>
        <p:spPr>
          <a:xfrm>
            <a:off x="8503920" y="1463040"/>
            <a:ext cx="3017520" cy="3566160"/>
          </a:xfrm>
          <a:prstGeom prst="roundRect">
            <a:avLst>
              <a:gd name="adj" fmla="val 3636"/>
            </a:avLst>
          </a:prstGeom>
          <a:solidFill>
            <a:srgbClr val="14142A"/>
          </a:solidFill>
          <a:ln w="9525">
            <a:solidFill>
              <a:srgbClr val="2A2A4A"/>
            </a:solidFill>
            <a:prstDash val="solid"/>
          </a:ln>
          <a:effectLst>
            <a:outerShdw sx="100000" sy="100000" kx="0" ky="0" algn="bl" rotWithShape="0" blurRad="101600" dist="25400" dir="5400000">
              <a:srgbClr val="000000">
                <a:alpha val="8000"/>
              </a:srgbClr>
            </a:outerShdw>
          </a:effectLst>
        </p:spPr>
      </p:sp>
      <p:pic>
        <p:nvPicPr>
          <p:cNvPr id="7" name="Image 1" descr="/tmp/deck/qr.png">    </p:cNvPr>
          <p:cNvPicPr>
            <a:picLocks noChangeAspect="1"/>
          </p:cNvPicPr>
          <p:nvPr/>
        </p:nvPicPr>
        <p:blipFill>
          <a:blip r:embed="rId2"/>
          <a:stretch>
            <a:fillRect/>
          </a:stretch>
        </p:blipFill>
        <p:spPr>
          <a:xfrm>
            <a:off x="8823960" y="1691640"/>
            <a:ext cx="2377440" cy="2377440"/>
          </a:xfrm>
          <a:prstGeom prst="rect">
            <a:avLst/>
          </a:prstGeom>
        </p:spPr>
      </p:pic>
      <p:sp>
        <p:nvSpPr>
          <p:cNvPr id="8" name="Text 4"/>
          <p:cNvSpPr txBox="1"/>
          <p:nvPr/>
        </p:nvSpPr>
        <p:spPr>
          <a:xfrm>
            <a:off x="8503920" y="4206240"/>
            <a:ext cx="3017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Scan to try it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NagarVaani: pitch deck</dc:title>
  <dc:subject>PptxGenJS Presentation</dc:subject>
  <dc:creator>NagarVaani team</dc:creator>
  <cp:lastModifiedBy>NagarVaani team</cp:lastModifiedBy>
  <cp:revision>1</cp:revision>
  <dcterms:created xsi:type="dcterms:W3CDTF">2026-09-30T16:14:26Z</dcterms:created>
  <dcterms:modified xsi:type="dcterms:W3CDTF">2026-09-30T16:14:26Z</dcterms:modified>
</cp:coreProperties>
</file>