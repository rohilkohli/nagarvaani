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E2E8F0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E2E8F0"/>
                </a:solidFill>
                <a:latin typeface="Calibri"/>
              </a:rPr>
              <a:t>Places gained in rank (raw rank to need rank)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Places gained</c:v>
                </c:pt>
              </c:strCache>
            </c:strRef>
          </c:tx>
          <c:spPr>
            <a:solidFill>
              <a:srgbClr val="8B5C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Wayanad, Kerala</c:v>
                  </c:pt>
                  <c:pt idx="1">
                    <c:v>Narmada, Gujarat</c:v>
                  </c:pt>
                  <c:pt idx="2">
                    <c:v>Jaisalmer, Rajasthan</c:v>
                  </c:pt>
                  <c:pt idx="3">
                    <c:v>Bijapur, Chhattisgarh</c:v>
                  </c:pt>
                  <c:pt idx="4">
                    <c:v>Chamba, Himachal Pradesh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31</c:v>
                </c:pt>
                <c:pt idx="1">
                  <c:v>25</c:v>
                </c:pt>
                <c:pt idx="2">
                  <c:v>15</c:v>
                </c:pt>
                <c:pt idx="3">
                  <c:v>11</c:v>
                </c:pt>
                <c:pt idx="4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2E8F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pitch: NagarVaani turns what citizens say into what governments prioritise. Point to the QR code: the live demo needs no login.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language of the track brief. Avoid quoting statistics we cannot source. The point: intake is fragmented and priority setting is not evidence-based.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steps left to right. Stress that every step already works in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bands. Top: getting a complaint in and understood. Bottom: turning many complaints into priorities. Gemini appears twice: once per complaint, once for recommendations over an aggregated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25 percent criterion. Emphasise meaningful use of Gemini and the honesty of the fallback: results are tagged gemini or rule-based, never silently faked.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coverage. Judges reward honesty about data limits more than inflated claims. Census figures are pending human verification per data/VERIFICATION.md.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come from the live demo's prioritisation endpoint on synthetic seed data using the rule-based engine (no Gemini key needed for the demo run). Say so if asked. Wayanad moves from 35th by raw count to 4th by need.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four phone-width screenshots on the live URL: citizen portal, tracking page, dashboard heatmap, priority rankings. Delete the dashed frames and drop the images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score depth and reach across India. Seed data is synthetic; the point is that adding districts means adding rows to the data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deliberately single-instance because its sandbox is in memory. Live mode uses Firestore. WhatsApp is tested with signed simulated payloads, not yet with a live Meta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claim measured impact. Frame impact as the mechanism: need-weighted evidence. The pilot path matches the FAQ: winning solutions are evaluated for pilot deployment within relevant ministries.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tagline and the QR code. Add team member names before submitting.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image" Target="../media/image-8-1.png"/><Relationship Id="rId5" Type="http://schemas.openxmlformats.org/officeDocument/2006/relationships/image" Target="../media/image-8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/logo-dark-tag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05840"/>
            <a:ext cx="6583680" cy="19842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329184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AI that turns citizen voices into infrastructure priorities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44348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01: AI for Digital Public Infrastructure &amp; Governance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2803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AI: Code for Communities, Second Edition (Google Cloud x Hack2skill)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503920" y="1463040"/>
            <a:ext cx="3017520" cy="3566160"/>
          </a:xfrm>
          <a:prstGeom prst="roundRect">
            <a:avLst>
              <a:gd name="adj" fmla="val 3636"/>
            </a:avLst>
          </a:prstGeom>
          <a:solidFill>
            <a:srgbClr val="14142A"/>
          </a:solidFill>
          <a:ln w="9525">
            <a:solidFill>
              <a:srgbClr val="2A2A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pic>
        <p:nvPicPr>
          <p:cNvPr id="7" name="Image 1" descr="/tmp/deck/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1691640"/>
            <a:ext cx="2377440" cy="23774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503920" y="4160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 live demo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503920" y="4480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nagarvaani-636001394004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.asia-south1.run.app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needs are heard, but not prioritised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Track 01 brief: development requests live in fragmented systems, so public spending drifts away from need and infrastructure gaps go unaddressed.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84048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speak dozens of languages and reach out by voice and messaging apps, not forms.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852160" y="1554480"/>
            <a:ext cx="56692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080760" y="1920240"/>
            <a:ext cx="640080" cy="64008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0780" y="2080260"/>
            <a:ext cx="320040" cy="320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0372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intake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903720" y="21214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sit in separate portals, helplines and messages with no common structure.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852160" y="3154680"/>
            <a:ext cx="56692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080760" y="3520440"/>
            <a:ext cx="640080" cy="64008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0780" y="36804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903720" y="3337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beats need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903720" y="37216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Busy cities generate more reports, so quiet, under-served districts are easy to miss.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852160" y="4754880"/>
            <a:ext cx="56692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080760" y="5120640"/>
            <a:ext cx="640080" cy="64008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780" y="528066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903720" y="4937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barrier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6903720" y="53218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and IVR menus cover only a few languages of a linguistically diverse country.</a:t>
            </a:r>
            <a:endParaRPr lang="en-US" sz="1300" dirty="0"/>
          </a:p>
        </p:txBody>
      </p:sp>
      <p:pic>
        <p:nvPicPr>
          <p:cNvPr id="20" name="Image 3" descr="/tmp/deck/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355080"/>
            <a:ext cx="237744" cy="24688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69264" y="635508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NagarVaani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11002975" y="635508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platform, from a voice note to a ranked project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6187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Collect, understand, prioritise, act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14600" cy="32004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77440"/>
            <a:ext cx="777240" cy="7772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571750"/>
            <a:ext cx="388620" cy="3886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3337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Collect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84048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form, voice, photo and WhatsApp, in the citizen's own language.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3429000" y="2103120"/>
            <a:ext cx="2514600" cy="32004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703320" y="2377440"/>
            <a:ext cx="777240" cy="7772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7630" y="2571750"/>
            <a:ext cx="388620" cy="3886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703320" y="3337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Understand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3703320" y="384048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transcribes, translates, classifies and scores urgency. Duplicates are grouped.</a:t>
            </a:r>
            <a:endParaRPr lang="en-US" sz="1550" dirty="0"/>
          </a:p>
        </p:txBody>
      </p:sp>
      <p:sp>
        <p:nvSpPr>
          <p:cNvPr id="14" name="Shape 10"/>
          <p:cNvSpPr/>
          <p:nvPr/>
        </p:nvSpPr>
        <p:spPr>
          <a:xfrm>
            <a:off x="6217920" y="2103120"/>
            <a:ext cx="2514600" cy="32004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92240" y="2377440"/>
            <a:ext cx="777240" cy="7772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550" y="2571750"/>
            <a:ext cx="388620" cy="3886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92240" y="3337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Prioritise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6492240" y="384048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are joined with Census, NITI Aayog and NFHS-5 district data and ranked by need.</a:t>
            </a:r>
            <a:endParaRPr lang="en-US" sz="1550" dirty="0"/>
          </a:p>
        </p:txBody>
      </p:sp>
      <p:sp>
        <p:nvSpPr>
          <p:cNvPr id="19" name="Shape 14"/>
          <p:cNvSpPr/>
          <p:nvPr/>
        </p:nvSpPr>
        <p:spPr>
          <a:xfrm>
            <a:off x="9006840" y="2103120"/>
            <a:ext cx="2514600" cy="32004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281160" y="2377440"/>
            <a:ext cx="777240" cy="7772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470" y="2571750"/>
            <a:ext cx="388620" cy="3886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281160" y="3337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Act</a:t>
            </a:r>
            <a:endParaRPr lang="en-US" sz="2200" dirty="0"/>
          </a:p>
        </p:txBody>
      </p:sp>
      <p:sp>
        <p:nvSpPr>
          <p:cNvPr id="23" name="Text 17"/>
          <p:cNvSpPr txBox="1"/>
          <p:nvPr/>
        </p:nvSpPr>
        <p:spPr>
          <a:xfrm>
            <a:off x="9281160" y="384048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Policymakers see hotspots and evidence-backed project recommendations.</a:t>
            </a:r>
            <a:endParaRPr lang="en-US" sz="1550" dirty="0"/>
          </a:p>
        </p:txBody>
      </p:sp>
      <p:pic>
        <p:nvPicPr>
          <p:cNvPr id="24" name="Image 4" descr="/tmp/deck/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6355080"/>
            <a:ext cx="237744" cy="24688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69264" y="635508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NagarVaani</a:t>
            </a:r>
            <a:endParaRPr lang="en-US" sz="1100" dirty="0"/>
          </a:p>
        </p:txBody>
      </p:sp>
      <p:sp>
        <p:nvSpPr>
          <p:cNvPr id="26" name="Text 19"/>
          <p:cNvSpPr txBox="1"/>
          <p:nvPr/>
        </p:nvSpPr>
        <p:spPr>
          <a:xfrm>
            <a:off x="11002975" y="635508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6187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Cloud Run container, Google Gemini, Firebase in live mode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AND UNDERSTANDING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23317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2121408"/>
            <a:ext cx="310896" cy="310896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" y="2121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031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channels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146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form, voice, photo, WhatsApp webhook (signed)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566160" y="2011680"/>
            <a:ext cx="23317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75888" y="2121408"/>
            <a:ext cx="310896" cy="310896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75888" y="2121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069080" y="21031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API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5146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Run. PII redaction, rate limits, validation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46520" y="2011680"/>
            <a:ext cx="2331720" cy="1143000"/>
          </a:xfrm>
          <a:prstGeom prst="roundRect">
            <a:avLst>
              <a:gd name="adj" fmla="val 8000"/>
            </a:avLst>
          </a:prstGeom>
          <a:solidFill>
            <a:srgbClr val="6366F1"/>
          </a:solidFill>
          <a:ln w="9525">
            <a:solidFill>
              <a:srgbClr val="6366F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56248" y="212140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56248" y="2121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1031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25146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Transcribe, translate, classify, urgency, duplicates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326880" y="2011680"/>
            <a:ext cx="23317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436608" y="2121408"/>
            <a:ext cx="310896" cy="310896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36608" y="2121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29800" y="21031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464040" y="25146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 in live mode, in-memory sandbox in demo mode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090672" y="2395728"/>
            <a:ext cx="402336" cy="365760"/>
          </a:xfrm>
          <a:prstGeom prst="rightArrow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71032" y="2395728"/>
            <a:ext cx="402336" cy="365760"/>
          </a:xfrm>
          <a:prstGeom prst="rightArrow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51392" y="2395728"/>
            <a:ext cx="402336" cy="365760"/>
          </a:xfrm>
          <a:prstGeom prst="rightArrow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309860" y="3282696"/>
            <a:ext cx="365760" cy="457200"/>
          </a:xfrm>
          <a:prstGeom prst="downArrow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3931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PRIORITISATION AND DELIVERY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326880" y="4251960"/>
            <a:ext cx="23317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436608" y="4361688"/>
            <a:ext cx="310896" cy="310896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436608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829800" y="43434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data join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9464040" y="475488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2011, NITI aspirational flag, NFHS-5 indicators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46520" y="4251960"/>
            <a:ext cx="23317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556248" y="4361688"/>
            <a:ext cx="310896" cy="310896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56248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949440" y="43434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Need-weighted score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0" y="475488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100k population, urgency, deprivation, age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566160" y="4251960"/>
            <a:ext cx="2331720" cy="1143000"/>
          </a:xfrm>
          <a:prstGeom prst="roundRect">
            <a:avLst>
              <a:gd name="adj" fmla="val 8000"/>
            </a:avLst>
          </a:prstGeom>
          <a:solidFill>
            <a:srgbClr val="6366F1"/>
          </a:solidFill>
          <a:ln w="9525">
            <a:solidFill>
              <a:srgbClr val="6366F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675888" y="43616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675888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4069080" y="43434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recommends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3703320" y="475488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projects with evidence and confidence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85800" y="4251960"/>
            <a:ext cx="23317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95528" y="4361688"/>
            <a:ext cx="310896" cy="310896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95528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188720" y="43434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+ tracker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" y="475488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Heatmap, rankings, citizen tracking by ID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3090672" y="4636008"/>
            <a:ext cx="402336" cy="365760"/>
          </a:xfrm>
          <a:prstGeom prst="leftArrow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71032" y="4636008"/>
            <a:ext cx="402336" cy="365760"/>
          </a:xfrm>
          <a:prstGeom prst="leftArrow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851392" y="4636008"/>
            <a:ext cx="402336" cy="365760"/>
          </a:xfrm>
          <a:prstGeom prst="leftArrow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53" name="Image 0" descr="/tmp/deck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55080"/>
            <a:ext cx="237744" cy="246888"/>
          </a:xfrm>
          <a:prstGeom prst="rect">
            <a:avLst/>
          </a:prstGeom>
        </p:spPr>
      </p:pic>
      <p:sp>
        <p:nvSpPr>
          <p:cNvPr id="54" name="Text 51"/>
          <p:cNvSpPr txBox="1"/>
          <p:nvPr/>
        </p:nvSpPr>
        <p:spPr>
          <a:xfrm>
            <a:off x="969264" y="635508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NagarVaani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11002975" y="635508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does the work, with guardrails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6187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AI is used, and how we keep it honest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4290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548640" cy="5486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2402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130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70632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notes become text. The citizen confirms or edits the transcript before submitting.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434840" y="1874520"/>
            <a:ext cx="34290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63440" y="2103120"/>
            <a:ext cx="548640" cy="5486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24028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2130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and translate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2770632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detected, English translation stored, seven categories, schema-validated JSON.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229600" y="1874520"/>
            <a:ext cx="34290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58200" y="2103120"/>
            <a:ext cx="548640" cy="5486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24028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44000" y="2130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Urgency scoring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458200" y="2770632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 to 5 urgency drives ranking and the age-of-unresolved factor.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40080" y="4206240"/>
            <a:ext cx="34290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68680" y="4434840"/>
            <a:ext cx="548640" cy="5486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57200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44622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detection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68680" y="5102352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Near-identical reports by text, category, district and location are grouped.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4434840" y="4206240"/>
            <a:ext cx="34290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63440" y="4434840"/>
            <a:ext cx="548640" cy="5486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457200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349240" y="44622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663440" y="5102352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sees an aggregated, data-joined table and returns structured projects with evidence.</a:t>
            </a:r>
            <a:endParaRPr lang="en-US" sz="1350" dirty="0"/>
          </a:p>
        </p:txBody>
      </p:sp>
      <p:sp>
        <p:nvSpPr>
          <p:cNvPr id="29" name="Shape 22"/>
          <p:cNvSpPr/>
          <p:nvPr/>
        </p:nvSpPr>
        <p:spPr>
          <a:xfrm>
            <a:off x="8229600" y="4206240"/>
            <a:ext cx="34290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458200" y="4434840"/>
            <a:ext cx="548640" cy="54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0" y="4572000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144000" y="44622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458200" y="5102352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redacted first. Figures anchored to data. 'Insufficient data' allowed. Rule-based fallback is labelled.</a:t>
            </a:r>
            <a:endParaRPr lang="en-US" sz="1350" dirty="0"/>
          </a:p>
        </p:txBody>
      </p:sp>
      <p:pic>
        <p:nvPicPr>
          <p:cNvPr id="34" name="Image 6" descr="/tmp/deck/mar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6355080"/>
            <a:ext cx="237744" cy="24688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969264" y="635508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NagarVaani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11002975" y="635508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national data, with provenance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6187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are joined to district context so priorities reflect need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EF2FF"/>
          </a:solidFill>
          <a:ln w="9525">
            <a:solidFill>
              <a:srgbClr val="EEF2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196596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 in the data layer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06240" y="187452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EF2FF"/>
          </a:solidFill>
          <a:ln w="9525">
            <a:solidFill>
              <a:srgbClr val="EEF2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480560" y="196596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196596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NFHS-5 household indicators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0" y="187452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EF2FF"/>
          </a:solidFill>
          <a:ln w="9525">
            <a:solidFill>
              <a:srgbClr val="EEF2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046720" y="196596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0" y="196596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data sources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4904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3874770"/>
            <a:ext cx="251460" cy="2514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325880" y="37307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of India 2011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325880" y="400507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population and literacy rate.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40080" y="461772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10" y="4743450"/>
            <a:ext cx="251460" cy="2514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325880" y="45994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NITI Aayog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1325880" y="48737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Aspirational-district flag for under-served districts.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548640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10" y="5612130"/>
            <a:ext cx="251460" cy="2514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325880" y="54681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NFHS-5 (2019-21)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1325880" y="57424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 electricity, improved water and improved sanitation.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5669280" y="3703320"/>
            <a:ext cx="585216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5943600" y="3840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by design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5943600" y="429768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Sources, licences and retrieval dates are documented in data/SOURCES.md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 stay empty. Nothing is estimated or filled in.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NFHS-5 covers 30 of 58 districts so far; road connectivity is not loaded yet.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complaints are synthetic and labelled in the UI.</a:t>
            </a:r>
            <a:endParaRPr lang="en-US" sz="1300" dirty="0"/>
          </a:p>
        </p:txBody>
      </p:sp>
      <p:pic>
        <p:nvPicPr>
          <p:cNvPr id="28" name="Image 3" descr="/tmp/deck/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355080"/>
            <a:ext cx="237744" cy="24688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69264" y="635508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NagarVaani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11002975" y="635508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Need-weighted ranking changes who gets seen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6187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output on synthetic data: rank gained versus raw complaint count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6751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783080"/>
            <a:ext cx="3977640" cy="2286000"/>
          </a:xfrm>
          <a:prstGeom prst="roundRect">
            <a:avLst>
              <a:gd name="adj" fmla="val 4800"/>
            </a:avLst>
          </a:prstGeom>
          <a:solidFill>
            <a:srgbClr val="14142A"/>
          </a:solidFill>
          <a:ln w="9525">
            <a:solidFill>
              <a:srgbClr val="2A2A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818120" y="19019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Need-weighted score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3317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per 100k population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mean urgency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(1 + deprivation factor)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unresolved-age factor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3520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live in lib/priority.ts and appear in the dashboard tooltip.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589520" y="4297680"/>
            <a:ext cx="3977640" cy="1691640"/>
          </a:xfrm>
          <a:prstGeom prst="roundRect">
            <a:avLst>
              <a:gd name="adj" fmla="val 6486"/>
            </a:avLst>
          </a:prstGeom>
          <a:solidFill>
            <a:srgbClr val="14142A"/>
          </a:solidFill>
          <a:ln w="9525">
            <a:solidFill>
              <a:srgbClr val="2A2A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818120" y="44074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48006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under-served district with fewer reports can outrank a large city, because need is measured per head and adjusted for deprivation.</a:t>
            </a:r>
            <a:endParaRPr lang="en-US" sz="1300" dirty="0"/>
          </a:p>
        </p:txBody>
      </p:sp>
      <p:pic>
        <p:nvPicPr>
          <p:cNvPr id="12" name="Image 0" descr="/tmp/deck/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55080"/>
            <a:ext cx="237744" cy="2468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69264" y="635508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NagarVaani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11002975" y="635508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tour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6187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each frame with a screenshot from the live demo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560320" cy="3429000"/>
          </a:xfrm>
          <a:prstGeom prst="roundRect">
            <a:avLst>
              <a:gd name="adj" fmla="val 4286"/>
            </a:avLst>
          </a:prstGeom>
          <a:solidFill>
            <a:srgbClr val="E0E7FF"/>
          </a:solidFill>
          <a:ln w="12700">
            <a:solidFill>
              <a:srgbClr val="6366F1"/>
            </a:solidFill>
            <a:prstDash val="dash"/>
          </a:ln>
        </p:spPr>
      </p:sp>
      <p:pic>
        <p:nvPicPr>
          <p:cNvPr id="5" name="Image 0" descr="/tmp/deck/mark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1600200" y="3063240"/>
            <a:ext cx="640080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3794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440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portal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779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in your language, by voice, text or photo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456432" y="1874520"/>
            <a:ext cx="2560320" cy="3429000"/>
          </a:xfrm>
          <a:prstGeom prst="roundRect">
            <a:avLst>
              <a:gd name="adj" fmla="val 4286"/>
            </a:avLst>
          </a:prstGeom>
          <a:solidFill>
            <a:srgbClr val="E0E7FF"/>
          </a:solidFill>
          <a:ln w="12700">
            <a:solidFill>
              <a:srgbClr val="6366F1"/>
            </a:solidFill>
            <a:prstDash val="dash"/>
          </a:ln>
        </p:spPr>
      </p:sp>
      <p:pic>
        <p:nvPicPr>
          <p:cNvPr id="10" name="Image 1" descr="/tmp/deck/mark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4416552" y="3063240"/>
            <a:ext cx="640080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56432" y="3794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3456432" y="5440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456432" y="5779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status with a tracking ID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72784" y="1874520"/>
            <a:ext cx="2560320" cy="3429000"/>
          </a:xfrm>
          <a:prstGeom prst="roundRect">
            <a:avLst>
              <a:gd name="adj" fmla="val 4286"/>
            </a:avLst>
          </a:prstGeom>
          <a:solidFill>
            <a:srgbClr val="E0E7FF"/>
          </a:solidFill>
          <a:ln w="12700">
            <a:solidFill>
              <a:srgbClr val="6366F1"/>
            </a:solidFill>
            <a:prstDash val="dash"/>
          </a:ln>
        </p:spPr>
      </p:sp>
      <p:pic>
        <p:nvPicPr>
          <p:cNvPr id="15" name="Image 2" descr="/tmp/deck/mark.png">    </p:cNvPr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7232904" y="3063240"/>
            <a:ext cx="640080" cy="65836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72784" y="3794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6272784" y="5440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heatmap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6272784" y="5779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Hotspots across states, by category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9089136" y="1874520"/>
            <a:ext cx="2560320" cy="3429000"/>
          </a:xfrm>
          <a:prstGeom prst="roundRect">
            <a:avLst>
              <a:gd name="adj" fmla="val 4286"/>
            </a:avLst>
          </a:prstGeom>
          <a:solidFill>
            <a:srgbClr val="E0E7FF"/>
          </a:solidFill>
          <a:ln w="12700">
            <a:solidFill>
              <a:srgbClr val="6366F1"/>
            </a:solidFill>
            <a:prstDash val="dash"/>
          </a:ln>
        </p:spPr>
      </p:sp>
      <p:pic>
        <p:nvPicPr>
          <p:cNvPr id="20" name="Image 3" descr="/tmp/deck/mark.png">    </p:cNvPr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>
            <a:off x="10049256" y="3063240"/>
            <a:ext cx="640080" cy="65836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089136" y="3794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9089136" y="5440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rankings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9089136" y="5779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rank versus need-weighted rank</a:t>
            </a:r>
            <a:endParaRPr lang="en-US" sz="1200" dirty="0"/>
          </a:p>
        </p:txBody>
      </p:sp>
      <p:pic>
        <p:nvPicPr>
          <p:cNvPr id="24" name="Image 4" descr="/tmp/deck/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6355080"/>
            <a:ext cx="237744" cy="24688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69264" y="635508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NagarVaani</a:t>
            </a:r>
            <a:endParaRPr lang="en-US" sz="1100" dirty="0"/>
          </a:p>
        </p:txBody>
      </p:sp>
      <p:sp>
        <p:nvSpPr>
          <p:cNvPr id="26" name="Text 19"/>
          <p:cNvSpPr txBox="1"/>
          <p:nvPr/>
        </p:nvSpPr>
        <p:spPr>
          <a:xfrm>
            <a:off x="11002975" y="635508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India's linguistic diversity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6187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for India first, with BRICS as an extension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108960" cy="1783080"/>
          </a:xfrm>
          <a:prstGeom prst="roundRect">
            <a:avLst>
              <a:gd name="adj" fmla="val 6154"/>
            </a:avLst>
          </a:prstGeom>
          <a:solidFill>
            <a:srgbClr val="6366F1"/>
          </a:solidFill>
          <a:ln w="9525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7180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languages plus English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931920" y="1874520"/>
            <a:ext cx="31089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206240" y="2057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2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297180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languages including six international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31089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14400" y="40690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</a:t>
            </a:r>
            <a:endParaRPr lang="en-US" sz="5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49834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in the Indian seed data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931920" y="3886200"/>
            <a:ext cx="31089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206240" y="40690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20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49834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BRICS countries in the comparison view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406640" y="1874520"/>
            <a:ext cx="411480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68096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242316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Hindi, Bengali, Tamil, Telugu, Marathi, Gujarati, Kannada, Malayalam, Punjabi, Odia and English.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61188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language picker for citizens: Gemini detects the language and stores the original text with an English translation.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48006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is region-agnostic, so adding a state is data, not code.</a:t>
            </a:r>
            <a:endParaRPr lang="en-US" sz="1200" dirty="0"/>
          </a:p>
        </p:txBody>
      </p:sp>
      <p:pic>
        <p:nvPicPr>
          <p:cNvPr id="21" name="Image 0" descr="/tmp/deck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55080"/>
            <a:ext cx="237744" cy="24688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69264" y="635508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NagarVaani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1002975" y="635508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in days, safe by default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6187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 today, a ministry pilot next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0352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57400"/>
            <a:ext cx="640080" cy="64008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2174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1031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Deployability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92608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container on Cloud Run (asia-south1)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mode needs only a Gemini key; live mode adds Firebase roles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and readiness endpoints, source-deploy guide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CI: lint, 39 unit tests, build, smoke test, Playwright browser check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530352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057400"/>
            <a:ext cx="640080" cy="6400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260" y="221742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15200" y="21031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and privacy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92608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redacted before any Gemini call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webhook verified with HMAC signatures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sign-in with admin, supervisor, operator, auditor roles; audit logs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limits, size limits, daily Gemini cap, retention job</a:t>
            </a:r>
            <a:endParaRPr lang="en-US" sz="1600" dirty="0"/>
          </a:p>
        </p:txBody>
      </p:sp>
      <p:pic>
        <p:nvPicPr>
          <p:cNvPr id="14" name="Image 2" descr="/tmp/deck/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55080"/>
            <a:ext cx="237744" cy="24688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69264" y="635508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NagarVaani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11002975" y="635508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hackathon prototype to ministry pilot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6187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 today, a clear path forward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05840" y="2240280"/>
            <a:ext cx="8449056" cy="0"/>
          </a:xfrm>
          <a:prstGeom prst="line">
            <a:avLst/>
          </a:prstGeom>
          <a:noFill/>
          <a:ln w="25400">
            <a:solidFill>
              <a:srgbClr val="6366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057400"/>
            <a:ext cx="365760" cy="365760"/>
          </a:xfrm>
          <a:prstGeom prst="ellipse">
            <a:avLst/>
          </a:prstGeom>
          <a:solidFill>
            <a:srgbClr val="F59E0B"/>
          </a:solidFill>
          <a:ln w="38100">
            <a:solidFill>
              <a:srgbClr val="F8FA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743200"/>
            <a:ext cx="25603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33756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prototype: multichannel intake, Gemini triage, need-weighted ranking, live demo.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547872" y="2057400"/>
            <a:ext cx="365760" cy="365760"/>
          </a:xfrm>
          <a:prstGeom prst="ellipse">
            <a:avLst/>
          </a:prstGeom>
          <a:solidFill>
            <a:srgbClr val="6366F1"/>
          </a:solidFill>
          <a:ln w="38100">
            <a:solidFill>
              <a:srgbClr val="F8FA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56432" y="2743200"/>
            <a:ext cx="25603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85032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85032" y="333756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national data coverage, verify Census figures, evaluate Gemini on real complaints.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64224" y="2057400"/>
            <a:ext cx="365760" cy="365760"/>
          </a:xfrm>
          <a:prstGeom prst="ellipse">
            <a:avLst/>
          </a:prstGeom>
          <a:solidFill>
            <a:srgbClr val="6366F1"/>
          </a:solidFill>
          <a:ln w="38100">
            <a:solidFill>
              <a:srgbClr val="F8FA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743200"/>
            <a:ext cx="25603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501384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501384" y="333756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Live-mode pilot with one state department: Firebase roles, WhatsApp Business, DPDP Act review.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80576" y="2057400"/>
            <a:ext cx="365760" cy="365760"/>
          </a:xfrm>
          <a:prstGeom prst="ellipse">
            <a:avLst/>
          </a:prstGeom>
          <a:solidFill>
            <a:srgbClr val="6366F1"/>
          </a:solidFill>
          <a:ln w="38100">
            <a:solidFill>
              <a:srgbClr val="F8FAF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89136" y="2743200"/>
            <a:ext cx="25603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317736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17736" y="333756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states and languages by adding data, shared queue for multi-instance retries, monitoring.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212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policymakers see evidence-backed priorities per district, so under-served communities are not lost behind high-volume ones.</a:t>
            </a:r>
            <a:endParaRPr lang="en-US" sz="1500" dirty="0"/>
          </a:p>
        </p:txBody>
      </p:sp>
      <p:pic>
        <p:nvPicPr>
          <p:cNvPr id="22" name="Image 0" descr="/tmp/deck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55080"/>
            <a:ext cx="237744" cy="246888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969264" y="635508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NagarVaani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1002975" y="635508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88720"/>
            <a:ext cx="1463040" cy="1508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9260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citizen's voice.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city's priority.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45720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212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 nagarvaani-636001394004.asia-south1.run.app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         github.com/rohilkohli/NagarVaani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503920" y="1463040"/>
            <a:ext cx="3017520" cy="3566160"/>
          </a:xfrm>
          <a:prstGeom prst="roundRect">
            <a:avLst>
              <a:gd name="adj" fmla="val 3636"/>
            </a:avLst>
          </a:prstGeom>
          <a:solidFill>
            <a:srgbClr val="14142A"/>
          </a:solidFill>
          <a:ln w="9525">
            <a:solidFill>
              <a:srgbClr val="2A2A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pic>
        <p:nvPicPr>
          <p:cNvPr id="7" name="Image 1" descr="/tmp/deck/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1691640"/>
            <a:ext cx="2377440" cy="23774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503920" y="4206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try it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NagarVaani: pitch deck</dc:title>
  <dc:subject>PptxGenJS Presentation</dc:subject>
  <dc:creator>NagarVaani team</dc:creator>
  <cp:lastModifiedBy>NagarVaani team</cp:lastModifiedBy>
  <cp:revision>1</cp:revision>
  <dcterms:created xsi:type="dcterms:W3CDTF">2026-09-30T14:49:57Z</dcterms:created>
  <dcterms:modified xsi:type="dcterms:W3CDTF">2026-09-30T14:49:57Z</dcterms:modified>
</cp:coreProperties>
</file>